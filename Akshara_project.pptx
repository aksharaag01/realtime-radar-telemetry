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76" r:id="rId6"/>
    <p:sldId id="260" r:id="rId7"/>
    <p:sldId id="281" r:id="rId8"/>
    <p:sldId id="261" r:id="rId9"/>
    <p:sldId id="262" r:id="rId10"/>
    <p:sldId id="263" r:id="rId11"/>
    <p:sldId id="278" r:id="rId12"/>
    <p:sldId id="264" r:id="rId13"/>
    <p:sldId id="282" r:id="rId14"/>
    <p:sldId id="265" r:id="rId15"/>
    <p:sldId id="266" r:id="rId16"/>
    <p:sldId id="267" r:id="rId17"/>
    <p:sldId id="277" r:id="rId18"/>
    <p:sldId id="269" r:id="rId19"/>
    <p:sldId id="270" r:id="rId20"/>
    <p:sldId id="271" r:id="rId21"/>
    <p:sldId id="280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99"/>
  </p:normalViewPr>
  <p:slideViewPr>
    <p:cSldViewPr snapToGrid="0" snapToObjects="1">
      <p:cViewPr>
        <p:scale>
          <a:sx n="123" d="100"/>
          <a:sy n="123" d="100"/>
        </p:scale>
        <p:origin x="1136" y="7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15C125-8939-4144-99CD-5D908A1CC8EE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3DDA1-8AA1-C345-AB00-0F10EDB10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8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38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133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36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45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94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2643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67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2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4427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7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8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233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3DDA1-8AA1-C345-AB00-0F10EDB10A8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60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U5I7jNPDC-3QvcGuHitnxE25Rw_zP4Xe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3657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sz="1000" b="1" dirty="0">
              <a:solidFill>
                <a:srgbClr val="65D2D3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6241" y="461554"/>
            <a:ext cx="7293428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INTEGRATION OF OPENEAAGLES AND ZENOH-C FOR REAL TIME AIRCRAFT SIMULATION AND SURFACE TO AIR MISSILE (SAM) ENGAGEMENT</a:t>
            </a:r>
            <a:endParaRPr sz="4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Oval 6"/>
          <p:cNvSpPr/>
          <p:nvPr/>
        </p:nvSpPr>
        <p:spPr>
          <a:xfrm>
            <a:off x="9646920" y="1417320"/>
            <a:ext cx="960120" cy="960120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46920" y="141732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OE</a:t>
            </a:r>
          </a:p>
        </p:txBody>
      </p:sp>
      <p:sp>
        <p:nvSpPr>
          <p:cNvPr id="9" name="Oval 8"/>
          <p:cNvSpPr/>
          <p:nvPr/>
        </p:nvSpPr>
        <p:spPr>
          <a:xfrm>
            <a:off x="10835640" y="2788920"/>
            <a:ext cx="960120" cy="960120"/>
          </a:xfrm>
          <a:prstGeom prst="ellipse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835640" y="278892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Z</a:t>
            </a:r>
          </a:p>
        </p:txBody>
      </p:sp>
      <p:sp>
        <p:nvSpPr>
          <p:cNvPr id="11" name="Oval 10"/>
          <p:cNvSpPr/>
          <p:nvPr/>
        </p:nvSpPr>
        <p:spPr>
          <a:xfrm>
            <a:off x="8732520" y="4160520"/>
            <a:ext cx="960120" cy="960120"/>
          </a:xfrm>
          <a:prstGeom prst="ellipse">
            <a:avLst/>
          </a:prstGeom>
          <a:solidFill>
            <a:srgbClr val="395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32520" y="4160520"/>
            <a:ext cx="9601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AIR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95560" y="2057400"/>
            <a:ext cx="731520" cy="731520"/>
          </a:xfrm>
          <a:prstGeom prst="line">
            <a:avLst/>
          </a:prstGeom>
          <a:ln w="25400">
            <a:solidFill>
              <a:srgbClr val="6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646920" y="3520440"/>
            <a:ext cx="1124712" cy="731520"/>
          </a:xfrm>
          <a:prstGeom prst="line">
            <a:avLst/>
          </a:prstGeom>
          <a:ln w="25400">
            <a:solidFill>
              <a:srgbClr val="64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4416552"/>
            <a:ext cx="640080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Presented By - Akshara Agarwal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2401200019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Jaypee Institute of Information Technology, Noida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Guide &amp; Mentor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Mr. Gaurav Gupta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Sc- ‘F’ , Institute for Systems Studies &amp; Analyses (ISSA) , DRDO, New Delhi 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IN" b="1" dirty="0">
                <a:solidFill>
                  <a:schemeClr val="bg1"/>
                </a:solidFill>
                <a:latin typeface="Aptos" panose="020B0004020202020204" pitchFamily="34" charset="0"/>
              </a:rPr>
              <a:t>Training Period - 22 June 2026 - 4 August 2026</a:t>
            </a: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58591"/>
                </a:solidFill>
                <a:latin typeface="Aptos"/>
              </a:rP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C2632"/>
                </a:solidFill>
                <a:latin typeface="Aptos"/>
              </a:rPr>
              <a:t>From an internship assignment to a working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Aptos"/>
              </a:rPr>
              <a:t>A legacy C++ simulation framework was connected to a modern real-time data layer, then validated through an aircraft–SAM scenario.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3852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632"/>
                </a:solidFill>
                <a:latin typeface="Aptos"/>
              </a:rPr>
              <a:t>I started with two independent technologies and ended with a connected simulation pipeline.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852928"/>
            <a:ext cx="493776" cy="493776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8368" y="285292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4930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C2632"/>
                </a:solidFill>
                <a:latin typeface="Aptos"/>
              </a:rPr>
              <a:t>Understand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252" y="3690804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latin typeface="Aptos"/>
              </a:rPr>
              <a:t>OpenEaagles</a:t>
            </a:r>
            <a:endParaRPr sz="1100" b="0" dirty="0">
              <a:latin typeface="Aptos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316736" y="3099816"/>
            <a:ext cx="1325879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71215" y="2852928"/>
            <a:ext cx="493776" cy="493776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71215" y="285292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5" y="34930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632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2" y="3698859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latin typeface="Aptos"/>
              </a:rPr>
              <a:t>Zenoh</a:t>
            </a:r>
            <a:r>
              <a:rPr sz="1100" b="0" dirty="0">
                <a:latin typeface="Aptos"/>
              </a:rPr>
              <a:t>-C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29583" y="3099816"/>
            <a:ext cx="1325881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084064" y="2852928"/>
            <a:ext cx="493776" cy="493776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84064" y="285292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34930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632"/>
                </a:solidFill>
                <a:latin typeface="Aptos"/>
              </a:rPr>
              <a:t>Integrate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2" y="3719436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 err="1">
                <a:latin typeface="Aptos"/>
              </a:rPr>
              <a:t>Zenoh</a:t>
            </a:r>
            <a:r>
              <a:rPr sz="1100" b="0" dirty="0">
                <a:latin typeface="Aptos"/>
              </a:rPr>
              <a:t> Bridge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42431" y="3099816"/>
            <a:ext cx="1325881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296912" y="2852928"/>
            <a:ext cx="493776" cy="493776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96912" y="285292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34930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632"/>
                </a:solidFill>
                <a:latin typeface="Aptos"/>
              </a:rPr>
              <a:t>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711807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latin typeface="Aptos"/>
              </a:rPr>
              <a:t>Aircraft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55279" y="3099816"/>
            <a:ext cx="1325880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509760" y="2852928"/>
            <a:ext cx="493776" cy="493776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2852928"/>
            <a:ext cx="493776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4930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C2632"/>
                </a:solidFill>
                <a:latin typeface="Aptos"/>
              </a:rPr>
              <a:t>Engage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3723781"/>
            <a:ext cx="1828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latin typeface="Aptos"/>
              </a:rPr>
              <a:t>SAM + PN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276993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b="1" dirty="0">
                <a:solidFill>
                  <a:srgbClr val="255B8C"/>
                </a:solidFill>
                <a:latin typeface="Aptos"/>
              </a:rPr>
              <a:t>What I personally built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88491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51092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A1C7CE1-F64D-6DD8-0587-D6162BD9DFC9}"/>
              </a:ext>
            </a:extLst>
          </p:cNvPr>
          <p:cNvSpPr/>
          <p:nvPr/>
        </p:nvSpPr>
        <p:spPr>
          <a:xfrm>
            <a:off x="868680" y="5294376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E3FFA1F-319C-9405-F9B9-CA8DEA756824}"/>
              </a:ext>
            </a:extLst>
          </p:cNvPr>
          <p:cNvSpPr/>
          <p:nvPr/>
        </p:nvSpPr>
        <p:spPr>
          <a:xfrm>
            <a:off x="868680" y="5687568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8A9FFE-13C4-853E-4CEA-1B0ED519EB12}"/>
              </a:ext>
            </a:extLst>
          </p:cNvPr>
          <p:cNvSpPr txBox="1"/>
          <p:nvPr/>
        </p:nvSpPr>
        <p:spPr>
          <a:xfrm>
            <a:off x="1051560" y="5193792"/>
            <a:ext cx="969264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0" dirty="0">
                <a:solidFill>
                  <a:srgbClr val="141C26"/>
                </a:solidFill>
                <a:latin typeface="Aptos"/>
              </a:rPr>
              <a:t>Custom aircraft + SAM simulation components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36A4AB-5362-6037-66C6-0C18D71A3D8A}"/>
              </a:ext>
            </a:extLst>
          </p:cNvPr>
          <p:cNvSpPr txBox="1"/>
          <p:nvPr/>
        </p:nvSpPr>
        <p:spPr>
          <a:xfrm>
            <a:off x="1051560" y="5586984"/>
            <a:ext cx="969264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0" dirty="0">
                <a:solidFill>
                  <a:srgbClr val="141C26"/>
                </a:solidFill>
                <a:latin typeface="Aptos"/>
              </a:rPr>
              <a:t>Build, debugging, communication testing and validation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4D0C44-5920-6DF8-E954-0FE592D5969A}"/>
              </a:ext>
            </a:extLst>
          </p:cNvPr>
          <p:cNvSpPr txBox="1"/>
          <p:nvPr/>
        </p:nvSpPr>
        <p:spPr>
          <a:xfrm>
            <a:off x="1051560" y="4800600"/>
            <a:ext cx="9692640" cy="3931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50" b="0" dirty="0">
                <a:solidFill>
                  <a:srgbClr val="141C26"/>
                </a:solidFill>
                <a:latin typeface="Aptos"/>
              </a:rPr>
              <a:t>Integration bridge between the two frameworks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B6AD23F-420A-48A3-1CB4-90F5B1356E1F}"/>
              </a:ext>
            </a:extLst>
          </p:cNvPr>
          <p:cNvSpPr/>
          <p:nvPr/>
        </p:nvSpPr>
        <p:spPr>
          <a:xfrm>
            <a:off x="868680" y="4907928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58591"/>
                </a:solidFill>
                <a:latin typeface="Aptos"/>
              </a:rPr>
              <a:t>02 /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7364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What was I actually trying to solve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 and Why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Aptos"/>
              </a:rPr>
              <a:t>The challenge was not simply writing a model. It was making independent software components work together reliably.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20240"/>
            <a:ext cx="50292" cy="214884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84832"/>
            <a:ext cx="308152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632"/>
                </a:solidFill>
                <a:latin typeface="Aptos"/>
              </a:rPr>
              <a:t>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48716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Use </a:t>
            </a:r>
            <a:r>
              <a:rPr sz="1600" b="0" dirty="0" err="1">
                <a:latin typeface="Aptos"/>
              </a:rPr>
              <a:t>OpenEaagles</a:t>
            </a:r>
            <a:r>
              <a:rPr sz="1600" b="0" dirty="0">
                <a:latin typeface="Aptos"/>
              </a:rPr>
              <a:t> as the authoritative simulation engine for aircraft and missile entities.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920240"/>
            <a:ext cx="50292" cy="2148840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84832"/>
            <a:ext cx="308152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632"/>
                </a:solidFill>
                <a:latin typeface="Aptos"/>
              </a:rPr>
              <a:t>Communication</a:t>
            </a:r>
            <a:endParaRPr sz="15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248716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Expose live aircraft state through </a:t>
            </a:r>
            <a:r>
              <a:rPr sz="1600" b="0" dirty="0" err="1">
                <a:latin typeface="Aptos"/>
              </a:rPr>
              <a:t>Zenoh</a:t>
            </a:r>
            <a:r>
              <a:rPr sz="1600" b="0" dirty="0">
                <a:latin typeface="Aptos"/>
              </a:rPr>
              <a:t>-C using publish–subscribe messaging.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20240"/>
            <a:ext cx="34290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920240"/>
            <a:ext cx="50292" cy="2148840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084832"/>
            <a:ext cx="308152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rgbClr val="1C2632"/>
                </a:solidFill>
                <a:latin typeface="Aptos"/>
              </a:rPr>
              <a:t>End-to-end proof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487168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Use a SAM engagement scenario to demonstrate that the complete pipeline 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58591"/>
                </a:solidFill>
                <a:latin typeface="Aptos"/>
              </a:rPr>
              <a:t>KEY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956048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1C2632"/>
                </a:solidFill>
                <a:latin typeface="Aptos"/>
              </a:rPr>
              <a:t>Can a legacy C++ simulation be extended without coupling external consumers to its internal object tree?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8849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" y="6438900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58591"/>
                </a:solidFill>
                <a:latin typeface="Aptos"/>
              </a:rPr>
              <a:t>03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900" b="1" dirty="0">
                <a:solidFill>
                  <a:srgbClr val="1C2632"/>
                </a:solidFill>
                <a:latin typeface="Aptos"/>
              </a:rPr>
              <a:t>TECHNICAL STACK</a:t>
            </a:r>
            <a:endParaRPr sz="29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Each layer solved a different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47088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1847088"/>
            <a:ext cx="109728" cy="658368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1965960"/>
            <a:ext cx="2057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1C2632"/>
                </a:solidFill>
                <a:latin typeface="Aptos"/>
              </a:rPr>
              <a:t>OpenEaagles</a:t>
            </a:r>
            <a:endParaRPr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37560" y="1975104"/>
            <a:ext cx="7223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Simulation engine • object model • scheduling • EDL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715768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" y="2715768"/>
            <a:ext cx="109728" cy="658368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834639"/>
            <a:ext cx="2057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Custom C++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43784"/>
            <a:ext cx="7223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Aircraft • SAM • </a:t>
            </a:r>
            <a:r>
              <a:rPr b="0" dirty="0" err="1">
                <a:latin typeface="Aptos"/>
              </a:rPr>
              <a:t>Zenoh</a:t>
            </a:r>
            <a:r>
              <a:rPr b="0" dirty="0">
                <a:latin typeface="Aptos"/>
              </a:rPr>
              <a:t> Bridge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584448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20" y="3584448"/>
            <a:ext cx="109728" cy="658368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3703320"/>
            <a:ext cx="2057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rgbClr val="1C2632"/>
                </a:solidFill>
                <a:latin typeface="Aptos"/>
              </a:rPr>
              <a:t>Zenoh</a:t>
            </a:r>
            <a:r>
              <a:rPr b="1" dirty="0">
                <a:solidFill>
                  <a:srgbClr val="1C2632"/>
                </a:solidFill>
                <a:latin typeface="Aptos"/>
              </a:rPr>
              <a:t>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712463"/>
            <a:ext cx="7223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Sessions • publishers • subscribers • key expressions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453127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" y="4453127"/>
            <a:ext cx="109728" cy="658368"/>
          </a:xfrm>
          <a:prstGeom prst="rect">
            <a:avLst/>
          </a:prstGeom>
          <a:solidFill>
            <a:srgbClr val="6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571999"/>
            <a:ext cx="20574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Build &amp; debug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581143"/>
            <a:ext cx="72237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latin typeface="Aptos"/>
              </a:rPr>
              <a:t>CMake</a:t>
            </a:r>
            <a:r>
              <a:rPr b="0" dirty="0">
                <a:latin typeface="Aptos"/>
              </a:rPr>
              <a:t> • MinGW • MSVC 2017 • GDB / </a:t>
            </a:r>
            <a:r>
              <a:rPr b="0" dirty="0" err="1">
                <a:latin typeface="Aptos"/>
              </a:rPr>
              <a:t>ASan</a:t>
            </a:r>
            <a:endParaRPr b="0" dirty="0"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7884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BF39DC8-C3C5-9332-8C4D-3B1D03F24225}"/>
              </a:ext>
            </a:extLst>
          </p:cNvPr>
          <p:cNvSpPr/>
          <p:nvPr/>
        </p:nvSpPr>
        <p:spPr>
          <a:xfrm>
            <a:off x="960120" y="5413248"/>
            <a:ext cx="109728" cy="658368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7D898AB-DE4F-3C56-7BE8-9388BE230279}"/>
              </a:ext>
            </a:extLst>
          </p:cNvPr>
          <p:cNvSpPr/>
          <p:nvPr/>
        </p:nvSpPr>
        <p:spPr>
          <a:xfrm>
            <a:off x="1069848" y="5413248"/>
            <a:ext cx="10241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1C2632"/>
                </a:solidFill>
                <a:latin typeface="Aptos"/>
              </a:rPr>
              <a:t>   OpenGL                             </a:t>
            </a:r>
            <a:r>
              <a:rPr lang="en-IN" dirty="0">
                <a:solidFill>
                  <a:srgbClr val="1C2632"/>
                </a:solidFill>
                <a:latin typeface="Aptos"/>
              </a:rPr>
              <a:t>Visualization of simulation state and trajectory playback.</a:t>
            </a:r>
            <a:endParaRPr lang="en-IN" b="1" dirty="0">
              <a:solidFill>
                <a:srgbClr val="1C2632"/>
              </a:solidFill>
              <a:latin typeface="Aptos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06F0B-B649-D5C0-71B2-F300549D83C1}"/>
              </a:ext>
            </a:extLst>
          </p:cNvPr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55B8C"/>
                </a:solidFill>
                <a:latin typeface="Aptos"/>
              </a:rPr>
              <a:t>04 / SCOPE OF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F4996-6F19-0ACE-3475-10623F906D9E}"/>
              </a:ext>
            </a:extLst>
          </p:cNvPr>
          <p:cNvSpPr txBox="1"/>
          <p:nvPr/>
        </p:nvSpPr>
        <p:spPr>
          <a:xfrm>
            <a:off x="594360" y="658368"/>
            <a:ext cx="1069848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141C26"/>
                </a:solidFill>
                <a:latin typeface="Aptos"/>
              </a:rPr>
              <a:t>What I built — and what I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BE191-5C53-D078-6234-5ADAEBABE768}"/>
              </a:ext>
            </a:extLst>
          </p:cNvPr>
          <p:cNvSpPr txBox="1"/>
          <p:nvPr/>
        </p:nvSpPr>
        <p:spPr>
          <a:xfrm>
            <a:off x="612648" y="1298448"/>
            <a:ext cx="10515600" cy="38404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50" b="0">
                <a:solidFill>
                  <a:srgbClr val="5B6775"/>
                </a:solidFill>
                <a:latin typeface="Aptos"/>
              </a:rPr>
              <a:t>A critical distinction for the presentation: OpenEaagles and Zenoh-C are existing frameworks; the integration and project-specific components were my work.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68DA55-F614-142E-4FB1-21F284A8E161}"/>
              </a:ext>
            </a:extLst>
          </p:cNvPr>
          <p:cNvSpPr txBox="1"/>
          <p:nvPr/>
        </p:nvSpPr>
        <p:spPr>
          <a:xfrm>
            <a:off x="11109960" y="329184"/>
            <a:ext cx="502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900" b="1">
                <a:solidFill>
                  <a:srgbClr val="5B6775"/>
                </a:solidFill>
                <a:latin typeface="Aptos"/>
              </a:rPr>
              <a:t>05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C42DE-23A0-D4D9-0A5A-7FA50A5D5E09}"/>
              </a:ext>
            </a:extLst>
          </p:cNvPr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50" b="1">
                <a:solidFill>
                  <a:srgbClr val="5B6775"/>
                </a:solidFill>
                <a:latin typeface="Aptos"/>
              </a:rPr>
              <a:t>ISSA • DRDO  /  INTERNSHIP</a:t>
            </a: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B254F9E-BCC6-464C-7E69-F0F440D656F6}"/>
              </a:ext>
            </a:extLst>
          </p:cNvPr>
          <p:cNvCxnSpPr/>
          <p:nvPr/>
        </p:nvCxnSpPr>
        <p:spPr>
          <a:xfrm>
            <a:off x="594360" y="6382512"/>
            <a:ext cx="10972800" cy="0"/>
          </a:xfrm>
          <a:prstGeom prst="line">
            <a:avLst/>
          </a:prstGeom>
          <a:ln w="10160">
            <a:solidFill>
              <a:srgbClr val="D7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829E80-D197-732D-0062-62300E26EFE6}"/>
              </a:ext>
            </a:extLst>
          </p:cNvPr>
          <p:cNvSpPr/>
          <p:nvPr/>
        </p:nvSpPr>
        <p:spPr>
          <a:xfrm>
            <a:off x="731520" y="1920240"/>
            <a:ext cx="4983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5CAF12-4C20-04CF-E240-FA0DD7D10C59}"/>
              </a:ext>
            </a:extLst>
          </p:cNvPr>
          <p:cNvSpPr txBox="1"/>
          <p:nvPr/>
        </p:nvSpPr>
        <p:spPr>
          <a:xfrm>
            <a:off x="1005840" y="2240280"/>
            <a:ext cx="30175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55B8C"/>
                </a:solidFill>
                <a:latin typeface="Aptos"/>
              </a:rPr>
              <a:t>EXISTING FRAMEWORKS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B53E3D-06FA-E2BE-6EA1-618379EAFAC7}"/>
              </a:ext>
            </a:extLst>
          </p:cNvPr>
          <p:cNvSpPr/>
          <p:nvPr/>
        </p:nvSpPr>
        <p:spPr>
          <a:xfrm>
            <a:off x="1005840" y="279806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4AB09C-BA8A-9B16-91FD-B818313F7FCB}"/>
              </a:ext>
            </a:extLst>
          </p:cNvPr>
          <p:cNvSpPr txBox="1"/>
          <p:nvPr/>
        </p:nvSpPr>
        <p:spPr>
          <a:xfrm>
            <a:off x="1188720" y="269748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OpenEaagles — simulation framework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1E1BE4-E06B-2879-CA73-8E6FC4FBF565}"/>
              </a:ext>
            </a:extLst>
          </p:cNvPr>
          <p:cNvSpPr/>
          <p:nvPr/>
        </p:nvSpPr>
        <p:spPr>
          <a:xfrm>
            <a:off x="1005840" y="330098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07533-8E9F-6E4F-9EEB-D38697212D7F}"/>
              </a:ext>
            </a:extLst>
          </p:cNvPr>
          <p:cNvSpPr txBox="1"/>
          <p:nvPr/>
        </p:nvSpPr>
        <p:spPr>
          <a:xfrm>
            <a:off x="1188720" y="320040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Zenoh-C — communication middleware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229E74-5DDC-D718-5EBB-BFAF23A7B15D}"/>
              </a:ext>
            </a:extLst>
          </p:cNvPr>
          <p:cNvSpPr/>
          <p:nvPr/>
        </p:nvSpPr>
        <p:spPr>
          <a:xfrm>
            <a:off x="1005840" y="380390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DEE54-4CD1-275C-EBD8-A93A0FB30C92}"/>
              </a:ext>
            </a:extLst>
          </p:cNvPr>
          <p:cNvSpPr txBox="1"/>
          <p:nvPr/>
        </p:nvSpPr>
        <p:spPr>
          <a:xfrm>
            <a:off x="1188720" y="370332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CMake / premake / MinGW / MSVC 2017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EEB7107-D4BC-C813-985B-2D2E1E9DF3DD}"/>
              </a:ext>
            </a:extLst>
          </p:cNvPr>
          <p:cNvSpPr/>
          <p:nvPr/>
        </p:nvSpPr>
        <p:spPr>
          <a:xfrm>
            <a:off x="1005840" y="430682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64C374-9669-FD90-0ED1-33A022F067AB}"/>
              </a:ext>
            </a:extLst>
          </p:cNvPr>
          <p:cNvSpPr txBox="1"/>
          <p:nvPr/>
        </p:nvSpPr>
        <p:spPr>
          <a:xfrm>
            <a:off x="1188720" y="420624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EDL — scenario configuration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DC38C1-F5A1-E1AC-00BD-B862B3EC4C84}"/>
              </a:ext>
            </a:extLst>
          </p:cNvPr>
          <p:cNvSpPr/>
          <p:nvPr/>
        </p:nvSpPr>
        <p:spPr>
          <a:xfrm>
            <a:off x="5943600" y="1920240"/>
            <a:ext cx="54406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FD321C-7B7C-19F0-903B-7EAB73944DE8}"/>
              </a:ext>
            </a:extLst>
          </p:cNvPr>
          <p:cNvSpPr txBox="1"/>
          <p:nvPr/>
        </p:nvSpPr>
        <p:spPr>
          <a:xfrm>
            <a:off x="6217920" y="2240280"/>
            <a:ext cx="30175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55B8C"/>
                </a:solidFill>
                <a:latin typeface="Aptos"/>
              </a:rPr>
              <a:t>MY PROJECT COMPONENTS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53422FC-4861-9904-4A36-282F4282EA49}"/>
              </a:ext>
            </a:extLst>
          </p:cNvPr>
          <p:cNvSpPr/>
          <p:nvPr/>
        </p:nvSpPr>
        <p:spPr>
          <a:xfrm>
            <a:off x="6217920" y="279806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CD6BF4-DAC0-48E5-4E16-0E24CA4BA2D1}"/>
              </a:ext>
            </a:extLst>
          </p:cNvPr>
          <p:cNvSpPr txBox="1"/>
          <p:nvPr/>
        </p:nvSpPr>
        <p:spPr>
          <a:xfrm>
            <a:off x="6400800" y="269748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Zenoh integration bridge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6B376F-F27D-D3DE-906F-35ECC285B54E}"/>
              </a:ext>
            </a:extLst>
          </p:cNvPr>
          <p:cNvSpPr/>
          <p:nvPr/>
        </p:nvSpPr>
        <p:spPr>
          <a:xfrm>
            <a:off x="6217920" y="330098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E3C2F4-B707-7A51-6EF5-C5B795BCAB96}"/>
              </a:ext>
            </a:extLst>
          </p:cNvPr>
          <p:cNvSpPr txBox="1"/>
          <p:nvPr/>
        </p:nvSpPr>
        <p:spPr>
          <a:xfrm>
            <a:off x="6400800" y="320040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Aircraft state generation + publishing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1BAC241-77E8-6D39-A968-60C0BC404DD2}"/>
              </a:ext>
            </a:extLst>
          </p:cNvPr>
          <p:cNvSpPr/>
          <p:nvPr/>
        </p:nvSpPr>
        <p:spPr>
          <a:xfrm>
            <a:off x="6217920" y="380390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C5AD14-C0C3-03E7-0DA0-1996D4D04F4D}"/>
              </a:ext>
            </a:extLst>
          </p:cNvPr>
          <p:cNvSpPr txBox="1"/>
          <p:nvPr/>
        </p:nvSpPr>
        <p:spPr>
          <a:xfrm>
            <a:off x="6400800" y="370332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Custom SAM model with PN guidance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416A488-33CA-C715-C426-BBD25BF107BB}"/>
              </a:ext>
            </a:extLst>
          </p:cNvPr>
          <p:cNvSpPr/>
          <p:nvPr/>
        </p:nvSpPr>
        <p:spPr>
          <a:xfrm>
            <a:off x="6217920" y="430682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FBA6CE-49D5-9487-FE19-677B5F7B547E}"/>
              </a:ext>
            </a:extLst>
          </p:cNvPr>
          <p:cNvSpPr txBox="1"/>
          <p:nvPr/>
        </p:nvSpPr>
        <p:spPr>
          <a:xfrm>
            <a:off x="6400800" y="420624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Thread-safe command/data boundary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2CE99F3-E005-2BF6-07BE-70D11AF23086}"/>
              </a:ext>
            </a:extLst>
          </p:cNvPr>
          <p:cNvSpPr/>
          <p:nvPr/>
        </p:nvSpPr>
        <p:spPr>
          <a:xfrm>
            <a:off x="6217920" y="480974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8B6B09-54D1-A675-EA70-20A0B2C08896}"/>
              </a:ext>
            </a:extLst>
          </p:cNvPr>
          <p:cNvSpPr txBox="1"/>
          <p:nvPr/>
        </p:nvSpPr>
        <p:spPr>
          <a:xfrm>
            <a:off x="6400800" y="470916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Testing and validation workflow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9A3CE8-3476-2616-DA71-45B8C7BEDB22}"/>
              </a:ext>
            </a:extLst>
          </p:cNvPr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005DA0-6649-3491-10BF-50BE884E35B6}"/>
              </a:ext>
            </a:extLst>
          </p:cNvPr>
          <p:cNvSpPr txBox="1"/>
          <p:nvPr/>
        </p:nvSpPr>
        <p:spPr>
          <a:xfrm>
            <a:off x="746760" y="810768"/>
            <a:ext cx="1069848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700" b="1">
                <a:solidFill>
                  <a:srgbClr val="141C26"/>
                </a:solidFill>
                <a:latin typeface="Aptos"/>
              </a:rPr>
              <a:t>What I built — and what I used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488600-A208-74BF-BD4F-5FC0D18F6CFC}"/>
              </a:ext>
            </a:extLst>
          </p:cNvPr>
          <p:cNvSpPr txBox="1"/>
          <p:nvPr/>
        </p:nvSpPr>
        <p:spPr>
          <a:xfrm>
            <a:off x="746760" y="1372398"/>
            <a:ext cx="10884874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A critical distinction for the presentation: </a:t>
            </a:r>
            <a:r>
              <a:rPr sz="1600" b="0" dirty="0" err="1">
                <a:latin typeface="Aptos"/>
              </a:rPr>
              <a:t>OpenEaagles</a:t>
            </a:r>
            <a:r>
              <a:rPr sz="1600" b="0" dirty="0">
                <a:latin typeface="Aptos"/>
              </a:rPr>
              <a:t> and </a:t>
            </a:r>
            <a:r>
              <a:rPr sz="1600" b="0" dirty="0" err="1">
                <a:latin typeface="Aptos"/>
              </a:rPr>
              <a:t>Zenoh</a:t>
            </a:r>
            <a:r>
              <a:rPr sz="1600" b="0" dirty="0">
                <a:latin typeface="Aptos"/>
              </a:rPr>
              <a:t>-C are existing frameworks; the integration and project-specific components were my work.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8BC2015-CBE5-A529-04B9-2C77B4F239AC}"/>
              </a:ext>
            </a:extLst>
          </p:cNvPr>
          <p:cNvSpPr/>
          <p:nvPr/>
        </p:nvSpPr>
        <p:spPr>
          <a:xfrm>
            <a:off x="883920" y="2072640"/>
            <a:ext cx="49834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956A70-83BD-AD19-E2C0-EFD368D5AC6E}"/>
              </a:ext>
            </a:extLst>
          </p:cNvPr>
          <p:cNvSpPr txBox="1"/>
          <p:nvPr/>
        </p:nvSpPr>
        <p:spPr>
          <a:xfrm>
            <a:off x="1158240" y="2392680"/>
            <a:ext cx="2351798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255B8C"/>
                </a:solidFill>
                <a:latin typeface="Aptos"/>
              </a:rPr>
              <a:t>EXISTING FRAMEWORKS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5A7F4E-6DFD-86BD-4877-F4AA47512AD9}"/>
              </a:ext>
            </a:extLst>
          </p:cNvPr>
          <p:cNvSpPr/>
          <p:nvPr/>
        </p:nvSpPr>
        <p:spPr>
          <a:xfrm>
            <a:off x="1158240" y="295046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FB0FC-09BA-0CCB-00A4-014A9DF8A0F6}"/>
              </a:ext>
            </a:extLst>
          </p:cNvPr>
          <p:cNvSpPr txBox="1"/>
          <p:nvPr/>
        </p:nvSpPr>
        <p:spPr>
          <a:xfrm>
            <a:off x="1341120" y="284988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OpenEaagles — simulation framework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D4851E9-E6B7-47DE-F8B6-6B1F146359D4}"/>
              </a:ext>
            </a:extLst>
          </p:cNvPr>
          <p:cNvSpPr/>
          <p:nvPr/>
        </p:nvSpPr>
        <p:spPr>
          <a:xfrm>
            <a:off x="1158240" y="345338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7725A-297D-F694-A771-40E0D9ABFFBB}"/>
              </a:ext>
            </a:extLst>
          </p:cNvPr>
          <p:cNvSpPr txBox="1"/>
          <p:nvPr/>
        </p:nvSpPr>
        <p:spPr>
          <a:xfrm>
            <a:off x="1341120" y="335280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Zenoh-C — communication middleware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19615E3-5E5C-B0E8-AAF5-854F2427679F}"/>
              </a:ext>
            </a:extLst>
          </p:cNvPr>
          <p:cNvSpPr/>
          <p:nvPr/>
        </p:nvSpPr>
        <p:spPr>
          <a:xfrm>
            <a:off x="1158240" y="395630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783428-6A13-D28F-5E3C-4487546F020D}"/>
              </a:ext>
            </a:extLst>
          </p:cNvPr>
          <p:cNvSpPr txBox="1"/>
          <p:nvPr/>
        </p:nvSpPr>
        <p:spPr>
          <a:xfrm>
            <a:off x="1341120" y="385572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CMake / premake / MinGW / MSVC 2017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CD069CD-E8C8-1326-E313-DC48590A4476}"/>
              </a:ext>
            </a:extLst>
          </p:cNvPr>
          <p:cNvSpPr/>
          <p:nvPr/>
        </p:nvSpPr>
        <p:spPr>
          <a:xfrm>
            <a:off x="1158240" y="445922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DD12CD-48A8-AEEC-5B58-DCCCD8EB66E1}"/>
              </a:ext>
            </a:extLst>
          </p:cNvPr>
          <p:cNvSpPr txBox="1"/>
          <p:nvPr/>
        </p:nvSpPr>
        <p:spPr>
          <a:xfrm>
            <a:off x="1341120" y="4358640"/>
            <a:ext cx="393192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EDL — scenario configuration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C8FFF98-1D99-3179-CECB-1092360D0531}"/>
              </a:ext>
            </a:extLst>
          </p:cNvPr>
          <p:cNvSpPr/>
          <p:nvPr/>
        </p:nvSpPr>
        <p:spPr>
          <a:xfrm>
            <a:off x="6096000" y="2072640"/>
            <a:ext cx="544068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D6E86A-E6FD-3865-4335-1B4497368BED}"/>
              </a:ext>
            </a:extLst>
          </p:cNvPr>
          <p:cNvSpPr txBox="1"/>
          <p:nvPr/>
        </p:nvSpPr>
        <p:spPr>
          <a:xfrm>
            <a:off x="6370320" y="2392680"/>
            <a:ext cx="2638479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255B8C"/>
                </a:solidFill>
                <a:latin typeface="Aptos"/>
              </a:rPr>
              <a:t>MY PROJECT COMPONENTS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6FEE9E-7FC3-419B-9539-17018D434348}"/>
              </a:ext>
            </a:extLst>
          </p:cNvPr>
          <p:cNvSpPr/>
          <p:nvPr/>
        </p:nvSpPr>
        <p:spPr>
          <a:xfrm>
            <a:off x="6370320" y="295046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E865E0-B77F-9A74-B5E5-32DF437702CB}"/>
              </a:ext>
            </a:extLst>
          </p:cNvPr>
          <p:cNvSpPr txBox="1"/>
          <p:nvPr/>
        </p:nvSpPr>
        <p:spPr>
          <a:xfrm>
            <a:off x="6553200" y="284988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Zenoh integration bridge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9D708E5-A02E-BB22-DFB6-C89B76BE9637}"/>
              </a:ext>
            </a:extLst>
          </p:cNvPr>
          <p:cNvSpPr/>
          <p:nvPr/>
        </p:nvSpPr>
        <p:spPr>
          <a:xfrm>
            <a:off x="6370320" y="345338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F12544-4A77-9935-1ECC-B59530F55A3D}"/>
              </a:ext>
            </a:extLst>
          </p:cNvPr>
          <p:cNvSpPr txBox="1"/>
          <p:nvPr/>
        </p:nvSpPr>
        <p:spPr>
          <a:xfrm>
            <a:off x="6553200" y="335280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Aircraft state generation + publishing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CACEB77-3188-4219-1F1B-6D69BE14A9D0}"/>
              </a:ext>
            </a:extLst>
          </p:cNvPr>
          <p:cNvSpPr/>
          <p:nvPr/>
        </p:nvSpPr>
        <p:spPr>
          <a:xfrm>
            <a:off x="6370320" y="395630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64158A-D31B-E9F0-9F5F-582B01A5F513}"/>
              </a:ext>
            </a:extLst>
          </p:cNvPr>
          <p:cNvSpPr txBox="1"/>
          <p:nvPr/>
        </p:nvSpPr>
        <p:spPr>
          <a:xfrm>
            <a:off x="6553200" y="385572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Custom SAM model with PN guidance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9AA61A5-2B63-04DC-2B43-30509F652CC5}"/>
              </a:ext>
            </a:extLst>
          </p:cNvPr>
          <p:cNvSpPr/>
          <p:nvPr/>
        </p:nvSpPr>
        <p:spPr>
          <a:xfrm>
            <a:off x="6370320" y="445922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907034-E815-A30E-2F28-F3AB9C9645BB}"/>
              </a:ext>
            </a:extLst>
          </p:cNvPr>
          <p:cNvSpPr txBox="1"/>
          <p:nvPr/>
        </p:nvSpPr>
        <p:spPr>
          <a:xfrm>
            <a:off x="6553200" y="435864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Thread-safe command/data boundary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0A03067-3B46-6447-66B1-B3FDD529D436}"/>
              </a:ext>
            </a:extLst>
          </p:cNvPr>
          <p:cNvSpPr/>
          <p:nvPr/>
        </p:nvSpPr>
        <p:spPr>
          <a:xfrm>
            <a:off x="6370320" y="4962144"/>
            <a:ext cx="73152" cy="73152"/>
          </a:xfrm>
          <a:prstGeom prst="ellipse">
            <a:avLst/>
          </a:prstGeom>
          <a:solidFill>
            <a:srgbClr val="255B8C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29E9255-C8FC-9AE5-7433-B1EFCCDA2323}"/>
              </a:ext>
            </a:extLst>
          </p:cNvPr>
          <p:cNvSpPr txBox="1"/>
          <p:nvPr/>
        </p:nvSpPr>
        <p:spPr>
          <a:xfrm>
            <a:off x="6553200" y="4861560"/>
            <a:ext cx="42976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141C26"/>
                </a:solidFill>
                <a:latin typeface="Aptos"/>
              </a:rPr>
              <a:t>Testing and validation workflow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FA96D98-42FE-6EDD-DB1D-4E1EE006400D}"/>
              </a:ext>
            </a:extLst>
          </p:cNvPr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0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5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000C82F-9415-6543-97E9-F57084B4DAED}"/>
              </a:ext>
            </a:extLst>
          </p:cNvPr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73F9762-7EE6-D5E7-1A7A-64D889C34023}"/>
              </a:ext>
            </a:extLst>
          </p:cNvPr>
          <p:cNvSpPr/>
          <p:nvPr/>
        </p:nvSpPr>
        <p:spPr>
          <a:xfrm>
            <a:off x="0" y="6441949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07227C-074D-F9E6-0AEE-2D45A9AAA28C}"/>
              </a:ext>
            </a:extLst>
          </p:cNvPr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53BD08-04F2-FA2B-33CF-EC297182DF5C}"/>
              </a:ext>
            </a:extLst>
          </p:cNvPr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4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SCOPE OF WORK</a:t>
            </a:r>
            <a:endParaRPr sz="1000" b="1" dirty="0">
              <a:solidFill>
                <a:srgbClr val="15859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47709480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5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PHASE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First milestone: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M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ake the frameworks work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Integration came only after both sides were verified.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847088"/>
            <a:ext cx="50292" cy="324612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86460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OpenEaagles</a:t>
            </a:r>
            <a:endParaRPr sz="1500" b="1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2545604"/>
            <a:ext cx="5010912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• Studied examples and project structure
• Built from source using MinGW during initial setup
• Resolved dependencies / configuration issues
• Ran sample simulations successfully
• Migrated the integrated solution to MSVC 2017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799707"/>
            <a:ext cx="52120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45352" y="1847088"/>
            <a:ext cx="50292" cy="3246120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2011680"/>
            <a:ext cx="486460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 err="1">
                <a:solidFill>
                  <a:schemeClr val="tx2">
                    <a:lumMod val="75000"/>
                  </a:schemeClr>
                </a:solidFill>
                <a:latin typeface="Aptos"/>
              </a:rPr>
              <a:t>Zenoh</a:t>
            </a:r>
            <a:r>
              <a:rPr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-C</a:t>
            </a:r>
            <a:endParaRPr sz="1500" b="1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6520" y="2548305"/>
            <a:ext cx="4828032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• Built from source using </a:t>
            </a:r>
            <a:r>
              <a:rPr b="0" dirty="0" err="1">
                <a:latin typeface="Aptos"/>
              </a:rPr>
              <a:t>CMake</a:t>
            </a:r>
            <a:r>
              <a:rPr b="0" dirty="0">
                <a:latin typeface="Aptos"/>
              </a:rPr>
              <a:t> + MinGW
• Studied sessions, publishers, subscribers and key expressions
• Ran publisher / subscriber examples
• Verified continuous message delivery
• Established a clean communication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81400" y="5622252"/>
            <a:ext cx="5562600" cy="752421"/>
          </a:xfrm>
          <a:prstGeom prst="roundRect">
            <a:avLst/>
          </a:prstGeom>
          <a:solidFill>
            <a:srgbClr val="E2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18165" y="5767629"/>
            <a:ext cx="495495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158591"/>
                </a:solidFill>
                <a:latin typeface="Aptos"/>
              </a:rPr>
              <a:t>BUILD → VERIFY → INTEGRATE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0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6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D704EFE-42E8-4C4D-AF32-312001F7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23234A-83BE-0FD1-391F-1B6126C73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08" r="10025" b="-1"/>
          <a:stretch>
            <a:fillRect/>
          </a:stretch>
        </p:blipFill>
        <p:spPr>
          <a:xfrm>
            <a:off x="20" y="10"/>
            <a:ext cx="4063977" cy="3428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01E70C-7B70-BECE-0579-F14ACF6499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77" r="9763" b="-2"/>
          <a:stretch>
            <a:fillRect/>
          </a:stretch>
        </p:blipFill>
        <p:spPr>
          <a:xfrm>
            <a:off x="4044529" y="10"/>
            <a:ext cx="4083465" cy="34289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DA8D4F-8692-1747-13E8-3CF77D7328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36" r="12987" b="1"/>
          <a:stretch>
            <a:fillRect/>
          </a:stretch>
        </p:blipFill>
        <p:spPr>
          <a:xfrm>
            <a:off x="8127994" y="10"/>
            <a:ext cx="4064005" cy="3428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722146-A097-0FCD-51D3-797A893A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66" r="12972" b="-3"/>
          <a:stretch>
            <a:fillRect/>
          </a:stretch>
        </p:blipFill>
        <p:spPr>
          <a:xfrm>
            <a:off x="20" y="3429000"/>
            <a:ext cx="4059916" cy="342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6367B3C-823E-9C8D-FCAD-9656B1D45FA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635" r="28062" b="-1"/>
          <a:stretch>
            <a:fillRect/>
          </a:stretch>
        </p:blipFill>
        <p:spPr>
          <a:xfrm>
            <a:off x="4052316" y="3429000"/>
            <a:ext cx="4087368" cy="3429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84999-6350-99D2-E92E-BD183227268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524" r="8771" b="-1"/>
          <a:stretch>
            <a:fillRect/>
          </a:stretch>
        </p:blipFill>
        <p:spPr>
          <a:xfrm>
            <a:off x="8132064" y="3429000"/>
            <a:ext cx="405993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109087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6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PHASE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The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I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ntegration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A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Keep simulation authority inside </a:t>
            </a:r>
            <a:r>
              <a:rPr sz="1600" b="0" dirty="0" err="1">
                <a:latin typeface="Aptos"/>
              </a:rPr>
              <a:t>OpenEaagles</a:t>
            </a:r>
            <a:r>
              <a:rPr lang="en-US" sz="1600" dirty="0">
                <a:latin typeface="Aptos"/>
              </a:rPr>
              <a:t> , </a:t>
            </a:r>
            <a:r>
              <a:rPr sz="1600" b="0" dirty="0">
                <a:latin typeface="Aptos"/>
              </a:rPr>
              <a:t>keep transport decoupled.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582" y="51890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dirty="0">
                <a:solidFill>
                  <a:srgbClr val="158591"/>
                </a:solidFill>
                <a:latin typeface="Aptos"/>
              </a:rPr>
              <a:t>DESIGN PRINCIPLE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2261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1C2632"/>
                </a:solidFill>
                <a:latin typeface="Aptos"/>
              </a:rPr>
              <a:t>Transport should move data — not own the simulation logic.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0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7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-4572" y="6451092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2671658-C701-8E06-5BC3-8370C5EB39EB}"/>
              </a:ext>
            </a:extLst>
          </p:cNvPr>
          <p:cNvSpPr/>
          <p:nvPr/>
        </p:nvSpPr>
        <p:spPr>
          <a:xfrm>
            <a:off x="777240" y="2240280"/>
            <a:ext cx="2240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856721-8D28-2EE1-905B-72389461656A}"/>
              </a:ext>
            </a:extLst>
          </p:cNvPr>
          <p:cNvSpPr txBox="1"/>
          <p:nvPr/>
        </p:nvSpPr>
        <p:spPr>
          <a:xfrm>
            <a:off x="777239" y="2404300"/>
            <a:ext cx="2196424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141C26"/>
                </a:solidFill>
                <a:latin typeface="Aptos"/>
              </a:rPr>
              <a:t>AIRCRAFT</a:t>
            </a:r>
            <a:r>
              <a:rPr lang="en-US" b="1" dirty="0">
                <a:solidFill>
                  <a:srgbClr val="141C26"/>
                </a:solidFill>
                <a:latin typeface="Aptos"/>
              </a:rPr>
              <a:t> (</a:t>
            </a:r>
            <a:r>
              <a:rPr lang="en-US" b="1" dirty="0" err="1">
                <a:solidFill>
                  <a:srgbClr val="141C26"/>
                </a:solidFill>
                <a:latin typeface="Aptos"/>
              </a:rPr>
              <a:t>OpenEaagles</a:t>
            </a:r>
            <a:r>
              <a:rPr lang="en-US" b="1" dirty="0">
                <a:solidFill>
                  <a:srgbClr val="141C26"/>
                </a:solidFill>
                <a:latin typeface="Aptos"/>
              </a:rPr>
              <a:t>)</a:t>
            </a:r>
            <a:endParaRPr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244B06-62CF-F802-E785-2D685447EED8}"/>
              </a:ext>
            </a:extLst>
          </p:cNvPr>
          <p:cNvSpPr txBox="1"/>
          <p:nvPr/>
        </p:nvSpPr>
        <p:spPr>
          <a:xfrm>
            <a:off x="1078790" y="3063240"/>
            <a:ext cx="1637179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600" b="0" dirty="0">
                <a:solidFill>
                  <a:srgbClr val="5B6775"/>
                </a:solidFill>
                <a:latin typeface="Aptos"/>
              </a:rPr>
              <a:t>position • velocity
altitude • heading
acceleration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DCA12C5-0A00-F895-4198-53A3FC0DE33A}"/>
              </a:ext>
            </a:extLst>
          </p:cNvPr>
          <p:cNvSpPr/>
          <p:nvPr/>
        </p:nvSpPr>
        <p:spPr>
          <a:xfrm>
            <a:off x="3566160" y="2240280"/>
            <a:ext cx="2240280" cy="2011680"/>
          </a:xfrm>
          <a:prstGeom prst="roundRect">
            <a:avLst>
              <a:gd name="adj" fmla="val 8000"/>
            </a:avLst>
          </a:prstGeom>
          <a:solidFill>
            <a:srgbClr val="E8EFF5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CDCC3E-D32E-707C-8E2F-0DD21F85014F}"/>
              </a:ext>
            </a:extLst>
          </p:cNvPr>
          <p:cNvSpPr txBox="1"/>
          <p:nvPr/>
        </p:nvSpPr>
        <p:spPr>
          <a:xfrm>
            <a:off x="3844273" y="2560320"/>
            <a:ext cx="1684051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255B8C"/>
                </a:solidFill>
                <a:latin typeface="Aptos"/>
              </a:rPr>
              <a:t>ZENOH BRIDGE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35738F-B2C2-03E8-6F1E-5D184EE95EE3}"/>
              </a:ext>
            </a:extLst>
          </p:cNvPr>
          <p:cNvSpPr txBox="1"/>
          <p:nvPr/>
        </p:nvSpPr>
        <p:spPr>
          <a:xfrm>
            <a:off x="3717636" y="3063240"/>
            <a:ext cx="1937326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600" b="0" dirty="0">
                <a:solidFill>
                  <a:srgbClr val="141C26"/>
                </a:solidFill>
                <a:latin typeface="Aptos"/>
              </a:rPr>
              <a:t>publish state
consume commands
preserve boundaries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1AB6093-C592-1A4A-00D5-AEB7EF07F05D}"/>
              </a:ext>
            </a:extLst>
          </p:cNvPr>
          <p:cNvSpPr/>
          <p:nvPr/>
        </p:nvSpPr>
        <p:spPr>
          <a:xfrm>
            <a:off x="6355080" y="2240280"/>
            <a:ext cx="2240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5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4F99671-0AFF-65C3-8D22-2817BA5E65AC}"/>
              </a:ext>
            </a:extLst>
          </p:cNvPr>
          <p:cNvSpPr txBox="1"/>
          <p:nvPr/>
        </p:nvSpPr>
        <p:spPr>
          <a:xfrm>
            <a:off x="6355078" y="2405011"/>
            <a:ext cx="2240281" cy="60939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141C26"/>
                </a:solidFill>
                <a:latin typeface="Aptos"/>
              </a:rPr>
              <a:t>SUBSCRIBER</a:t>
            </a:r>
            <a:r>
              <a:rPr lang="en-US" b="1" dirty="0">
                <a:solidFill>
                  <a:srgbClr val="141C26"/>
                </a:solidFill>
                <a:latin typeface="Aptos"/>
              </a:rPr>
              <a:t> (</a:t>
            </a:r>
            <a:r>
              <a:rPr lang="en-US" b="1" dirty="0" err="1">
                <a:solidFill>
                  <a:srgbClr val="141C26"/>
                </a:solidFill>
                <a:latin typeface="Aptos"/>
              </a:rPr>
              <a:t>Zenoh</a:t>
            </a:r>
            <a:r>
              <a:rPr lang="en-US" b="1" dirty="0">
                <a:solidFill>
                  <a:srgbClr val="141C26"/>
                </a:solidFill>
                <a:latin typeface="Aptos"/>
              </a:rPr>
              <a:t>-C)</a:t>
            </a:r>
            <a:endParaRPr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197ED8-526D-D489-A81A-68B12684F930}"/>
              </a:ext>
            </a:extLst>
          </p:cNvPr>
          <p:cNvSpPr txBox="1"/>
          <p:nvPr/>
        </p:nvSpPr>
        <p:spPr>
          <a:xfrm>
            <a:off x="6893489" y="3063240"/>
            <a:ext cx="1163460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600" b="0" dirty="0">
                <a:solidFill>
                  <a:srgbClr val="5B6775"/>
                </a:solidFill>
                <a:latin typeface="Aptos"/>
              </a:rPr>
              <a:t>monitoring
visualization
analysis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8D92466-40CE-4561-9259-33E4245A86E6}"/>
              </a:ext>
            </a:extLst>
          </p:cNvPr>
          <p:cNvSpPr/>
          <p:nvPr/>
        </p:nvSpPr>
        <p:spPr>
          <a:xfrm>
            <a:off x="9144000" y="2240280"/>
            <a:ext cx="224028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212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DBC9C1-175E-9BBD-27C9-1B0425E9E3D4}"/>
              </a:ext>
            </a:extLst>
          </p:cNvPr>
          <p:cNvSpPr txBox="1"/>
          <p:nvPr/>
        </p:nvSpPr>
        <p:spPr>
          <a:xfrm>
            <a:off x="10001984" y="2560320"/>
            <a:ext cx="524311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b="1" dirty="0">
                <a:solidFill>
                  <a:srgbClr val="212B36"/>
                </a:solidFill>
                <a:latin typeface="Aptos"/>
              </a:rPr>
              <a:t>SAM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72F2D-E491-60CD-6D45-DA986A51FF9F}"/>
              </a:ext>
            </a:extLst>
          </p:cNvPr>
          <p:cNvSpPr txBox="1"/>
          <p:nvPr/>
        </p:nvSpPr>
        <p:spPr>
          <a:xfrm>
            <a:off x="9675388" y="3063240"/>
            <a:ext cx="1177502" cy="794064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600" b="0" dirty="0">
                <a:solidFill>
                  <a:srgbClr val="5B6775"/>
                </a:solidFill>
                <a:latin typeface="Aptos"/>
              </a:rPr>
              <a:t>target state
LOS angle
PN guidance</a:t>
            </a:r>
          </a:p>
        </p:txBody>
      </p:sp>
      <p:cxnSp>
        <p:nvCxnSpPr>
          <p:cNvPr id="38" name="Connector 19">
            <a:extLst>
              <a:ext uri="{FF2B5EF4-FFF2-40B4-BE49-F238E27FC236}">
                <a16:creationId xmlns:a16="http://schemas.microsoft.com/office/drawing/2014/main" id="{1E62490B-5FB7-BD15-3144-75E65964DC9A}"/>
              </a:ext>
            </a:extLst>
          </p:cNvPr>
          <p:cNvCxnSpPr/>
          <p:nvPr/>
        </p:nvCxnSpPr>
        <p:spPr>
          <a:xfrm>
            <a:off x="3017520" y="3246120"/>
            <a:ext cx="548640" cy="0"/>
          </a:xfrm>
          <a:prstGeom prst="line">
            <a:avLst/>
          </a:prstGeom>
          <a:ln w="25400">
            <a:solidFill>
              <a:srgbClr val="25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20">
            <a:extLst>
              <a:ext uri="{FF2B5EF4-FFF2-40B4-BE49-F238E27FC236}">
                <a16:creationId xmlns:a16="http://schemas.microsoft.com/office/drawing/2014/main" id="{220181C8-C026-C67E-E51D-1E0794B206F9}"/>
              </a:ext>
            </a:extLst>
          </p:cNvPr>
          <p:cNvCxnSpPr/>
          <p:nvPr/>
        </p:nvCxnSpPr>
        <p:spPr>
          <a:xfrm>
            <a:off x="5806440" y="3246120"/>
            <a:ext cx="548639" cy="0"/>
          </a:xfrm>
          <a:prstGeom prst="line">
            <a:avLst/>
          </a:prstGeom>
          <a:ln w="25400">
            <a:solidFill>
              <a:srgbClr val="25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21">
            <a:extLst>
              <a:ext uri="{FF2B5EF4-FFF2-40B4-BE49-F238E27FC236}">
                <a16:creationId xmlns:a16="http://schemas.microsoft.com/office/drawing/2014/main" id="{20AFF747-50BB-0207-6836-D07BB079FF3E}"/>
              </a:ext>
            </a:extLst>
          </p:cNvPr>
          <p:cNvCxnSpPr/>
          <p:nvPr/>
        </p:nvCxnSpPr>
        <p:spPr>
          <a:xfrm>
            <a:off x="8595360" y="3246120"/>
            <a:ext cx="548640" cy="0"/>
          </a:xfrm>
          <a:prstGeom prst="line">
            <a:avLst/>
          </a:prstGeom>
          <a:ln w="25400">
            <a:solidFill>
              <a:srgbClr val="255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59D346-BA2C-4F4E-7254-58236C376450}"/>
              </a:ext>
            </a:extLst>
          </p:cNvPr>
          <p:cNvSpPr txBox="1"/>
          <p:nvPr/>
        </p:nvSpPr>
        <p:spPr>
          <a:xfrm>
            <a:off x="877171" y="4631546"/>
            <a:ext cx="1024128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400" b="1" dirty="0">
                <a:solidFill>
                  <a:srgbClr val="141C26"/>
                </a:solidFill>
                <a:latin typeface="Aptos"/>
              </a:rPr>
              <a:t>The architecture separates simulation execution from communication and external observation.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7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PHASE III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Aircraft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S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imulation: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urning state into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elemetry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latin typeface="Aptos"/>
              </a:rPr>
              <a:t>The aircraft became the live data source for the rest of the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0036" y="6080760"/>
            <a:ext cx="10607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important learning: a simulation is useful beyond its own process when its state can be exposed cleanly.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0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8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51092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D229CFE-C98C-DE4E-12CD-4EB95E4C1B9F}"/>
              </a:ext>
            </a:extLst>
          </p:cNvPr>
          <p:cNvSpPr/>
          <p:nvPr/>
        </p:nvSpPr>
        <p:spPr>
          <a:xfrm>
            <a:off x="5394960" y="1965960"/>
            <a:ext cx="1005840" cy="1005840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5CD015-7D5D-6337-A2FF-EB0298B7FC76}"/>
              </a:ext>
            </a:extLst>
          </p:cNvPr>
          <p:cNvSpPr txBox="1"/>
          <p:nvPr/>
        </p:nvSpPr>
        <p:spPr>
          <a:xfrm>
            <a:off x="5394960" y="2304288"/>
            <a:ext cx="100584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lang="en-IN" sz="1600" b="1" dirty="0">
                <a:solidFill>
                  <a:srgbClr val="255B8C"/>
                </a:solidFill>
                <a:latin typeface="Aptos"/>
              </a:rPr>
              <a:t>AIRCRAFT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59E6C5B-158B-5B1D-3152-F9B2B979E757}"/>
              </a:ext>
            </a:extLst>
          </p:cNvPr>
          <p:cNvSpPr/>
          <p:nvPr/>
        </p:nvSpPr>
        <p:spPr>
          <a:xfrm>
            <a:off x="914400" y="2011680"/>
            <a:ext cx="2743200" cy="1143000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B65791-F8A3-6A26-6947-607CA5D603DF}"/>
              </a:ext>
            </a:extLst>
          </p:cNvPr>
          <p:cNvSpPr txBox="1"/>
          <p:nvPr/>
        </p:nvSpPr>
        <p:spPr>
          <a:xfrm>
            <a:off x="1519465" y="2122700"/>
            <a:ext cx="1209562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 dirty="0">
                <a:solidFill>
                  <a:srgbClr val="255B8C"/>
                </a:solidFill>
                <a:latin typeface="Aptos"/>
              </a:rPr>
              <a:t>POSITION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0653E4-AF17-8B1E-6629-2F4B18036FDE}"/>
              </a:ext>
            </a:extLst>
          </p:cNvPr>
          <p:cNvSpPr txBox="1"/>
          <p:nvPr/>
        </p:nvSpPr>
        <p:spPr>
          <a:xfrm>
            <a:off x="1770330" y="2532888"/>
            <a:ext cx="557140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b="1" dirty="0">
                <a:solidFill>
                  <a:srgbClr val="141C26"/>
                </a:solidFill>
                <a:latin typeface="Aptos"/>
              </a:rPr>
              <a:t>X / Y 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E3AC0EC-3B86-B3E5-21C0-2093B875AE33}"/>
              </a:ext>
            </a:extLst>
          </p:cNvPr>
          <p:cNvSpPr/>
          <p:nvPr/>
        </p:nvSpPr>
        <p:spPr>
          <a:xfrm>
            <a:off x="914400" y="3840480"/>
            <a:ext cx="2743200" cy="1143000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4E9669-6278-AD57-7C5A-51B152B229FB}"/>
              </a:ext>
            </a:extLst>
          </p:cNvPr>
          <p:cNvSpPr txBox="1"/>
          <p:nvPr/>
        </p:nvSpPr>
        <p:spPr>
          <a:xfrm>
            <a:off x="1499744" y="3981943"/>
            <a:ext cx="1213281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 dirty="0">
                <a:solidFill>
                  <a:srgbClr val="255B8C"/>
                </a:solidFill>
                <a:latin typeface="Aptos"/>
              </a:rPr>
              <a:t>VELOCITY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CD4AAB-E4C2-9330-7797-B806F96A9C12}"/>
              </a:ext>
            </a:extLst>
          </p:cNvPr>
          <p:cNvSpPr txBox="1"/>
          <p:nvPr/>
        </p:nvSpPr>
        <p:spPr>
          <a:xfrm>
            <a:off x="1704117" y="4381899"/>
            <a:ext cx="719043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b="1" dirty="0">
                <a:solidFill>
                  <a:srgbClr val="141C26"/>
                </a:solidFill>
                <a:latin typeface="Aptos"/>
              </a:rPr>
              <a:t>S</a:t>
            </a:r>
            <a:r>
              <a:rPr b="1" dirty="0">
                <a:solidFill>
                  <a:srgbClr val="141C26"/>
                </a:solidFill>
                <a:latin typeface="Aptos"/>
              </a:rPr>
              <a:t>peed</a:t>
            </a:r>
            <a:endParaRPr sz="1200"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83FB003-75E7-5B04-31AD-158DDA4D4864}"/>
              </a:ext>
            </a:extLst>
          </p:cNvPr>
          <p:cNvSpPr/>
          <p:nvPr/>
        </p:nvSpPr>
        <p:spPr>
          <a:xfrm>
            <a:off x="8503920" y="2011680"/>
            <a:ext cx="2743200" cy="1143000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B1EC04-C280-1459-AD30-622552013872}"/>
              </a:ext>
            </a:extLst>
          </p:cNvPr>
          <p:cNvSpPr txBox="1"/>
          <p:nvPr/>
        </p:nvSpPr>
        <p:spPr>
          <a:xfrm>
            <a:off x="9179594" y="2195852"/>
            <a:ext cx="1175899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 dirty="0">
                <a:solidFill>
                  <a:srgbClr val="255B8C"/>
                </a:solidFill>
                <a:latin typeface="Aptos"/>
              </a:rPr>
              <a:t>HEADING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977EF2-949E-29B3-7A31-DDD46B849158}"/>
              </a:ext>
            </a:extLst>
          </p:cNvPr>
          <p:cNvSpPr txBox="1"/>
          <p:nvPr/>
        </p:nvSpPr>
        <p:spPr>
          <a:xfrm>
            <a:off x="9326429" y="2572608"/>
            <a:ext cx="1029064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b="1" dirty="0">
                <a:solidFill>
                  <a:srgbClr val="141C26"/>
                </a:solidFill>
                <a:latin typeface="Aptos"/>
              </a:rPr>
              <a:t>D</a:t>
            </a:r>
            <a:r>
              <a:rPr b="1" dirty="0">
                <a:solidFill>
                  <a:srgbClr val="141C26"/>
                </a:solidFill>
                <a:latin typeface="Aptos"/>
              </a:rPr>
              <a:t>irection</a:t>
            </a:r>
            <a:endParaRPr sz="1200"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EBEADC4-607D-76F6-CD74-B111AB7ED705}"/>
              </a:ext>
            </a:extLst>
          </p:cNvPr>
          <p:cNvSpPr/>
          <p:nvPr/>
        </p:nvSpPr>
        <p:spPr>
          <a:xfrm>
            <a:off x="8503920" y="3840480"/>
            <a:ext cx="2743200" cy="1143000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6BB0A0-CC7F-8EC9-F0AA-4CE6D0A2E6AC}"/>
              </a:ext>
            </a:extLst>
          </p:cNvPr>
          <p:cNvSpPr txBox="1"/>
          <p:nvPr/>
        </p:nvSpPr>
        <p:spPr>
          <a:xfrm>
            <a:off x="8754754" y="4018723"/>
            <a:ext cx="1884490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 dirty="0">
                <a:solidFill>
                  <a:srgbClr val="255B8C"/>
                </a:solidFill>
                <a:latin typeface="Aptos"/>
              </a:rPr>
              <a:t>ACCELERATION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C32E84-3A2A-CF22-CA04-7570ECFA26F1}"/>
              </a:ext>
            </a:extLst>
          </p:cNvPr>
          <p:cNvSpPr txBox="1"/>
          <p:nvPr/>
        </p:nvSpPr>
        <p:spPr>
          <a:xfrm>
            <a:off x="8782178" y="4417604"/>
            <a:ext cx="1970732" cy="332399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b="1" dirty="0">
                <a:solidFill>
                  <a:srgbClr val="141C26"/>
                </a:solidFill>
                <a:latin typeface="Aptos"/>
              </a:rPr>
              <a:t>Change in velocity</a:t>
            </a:r>
          </a:p>
        </p:txBody>
      </p:sp>
      <p:cxnSp>
        <p:nvCxnSpPr>
          <p:cNvPr id="48" name="Connector 21">
            <a:extLst>
              <a:ext uri="{FF2B5EF4-FFF2-40B4-BE49-F238E27FC236}">
                <a16:creationId xmlns:a16="http://schemas.microsoft.com/office/drawing/2014/main" id="{E904C5C4-368B-4D93-94A9-F1749F8E1AB6}"/>
              </a:ext>
            </a:extLst>
          </p:cNvPr>
          <p:cNvCxnSpPr/>
          <p:nvPr/>
        </p:nvCxnSpPr>
        <p:spPr>
          <a:xfrm flipV="1">
            <a:off x="3657600" y="2468880"/>
            <a:ext cx="1737360" cy="10972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 22">
            <a:extLst>
              <a:ext uri="{FF2B5EF4-FFF2-40B4-BE49-F238E27FC236}">
                <a16:creationId xmlns:a16="http://schemas.microsoft.com/office/drawing/2014/main" id="{16ED6D63-C787-C2CC-4DDB-D3D2B44C4652}"/>
              </a:ext>
            </a:extLst>
          </p:cNvPr>
          <p:cNvCxnSpPr/>
          <p:nvPr/>
        </p:nvCxnSpPr>
        <p:spPr>
          <a:xfrm flipV="1">
            <a:off x="3657600" y="2880360"/>
            <a:ext cx="1737360" cy="15270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Connector 23">
            <a:extLst>
              <a:ext uri="{FF2B5EF4-FFF2-40B4-BE49-F238E27FC236}">
                <a16:creationId xmlns:a16="http://schemas.microsoft.com/office/drawing/2014/main" id="{05DEF0C9-F010-0103-A00A-BF51E9CFEC12}"/>
              </a:ext>
            </a:extLst>
          </p:cNvPr>
          <p:cNvCxnSpPr/>
          <p:nvPr/>
        </p:nvCxnSpPr>
        <p:spPr>
          <a:xfrm flipH="1" flipV="1">
            <a:off x="6400800" y="2468880"/>
            <a:ext cx="2103120" cy="10972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 24">
            <a:extLst>
              <a:ext uri="{FF2B5EF4-FFF2-40B4-BE49-F238E27FC236}">
                <a16:creationId xmlns:a16="http://schemas.microsoft.com/office/drawing/2014/main" id="{F012C0CD-2370-CCAC-0AC8-EFE036079320}"/>
              </a:ext>
            </a:extLst>
          </p:cNvPr>
          <p:cNvCxnSpPr/>
          <p:nvPr/>
        </p:nvCxnSpPr>
        <p:spPr>
          <a:xfrm flipH="1" flipV="1">
            <a:off x="6400800" y="2880360"/>
            <a:ext cx="2103120" cy="152704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Connector 22">
            <a:extLst>
              <a:ext uri="{FF2B5EF4-FFF2-40B4-BE49-F238E27FC236}">
                <a16:creationId xmlns:a16="http://schemas.microsoft.com/office/drawing/2014/main" id="{956D431F-AF55-32A7-A2B2-F13E00958E80}"/>
              </a:ext>
            </a:extLst>
          </p:cNvPr>
          <p:cNvCxnSpPr>
            <a:cxnSpLocks/>
          </p:cNvCxnSpPr>
          <p:nvPr/>
        </p:nvCxnSpPr>
        <p:spPr>
          <a:xfrm flipV="1">
            <a:off x="5906589" y="3074126"/>
            <a:ext cx="0" cy="1750423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4DA645B-ACD9-553E-B825-ECEABCC4522D}"/>
              </a:ext>
            </a:extLst>
          </p:cNvPr>
          <p:cNvSpPr/>
          <p:nvPr/>
        </p:nvSpPr>
        <p:spPr>
          <a:xfrm>
            <a:off x="4572000" y="4886380"/>
            <a:ext cx="2743200" cy="1143000"/>
          </a:xfrm>
          <a:prstGeom prst="roundRect">
            <a:avLst>
              <a:gd name="adj" fmla="val 8000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14564D-0FA9-E523-9F98-FB5A5DF0923D}"/>
              </a:ext>
            </a:extLst>
          </p:cNvPr>
          <p:cNvSpPr txBox="1"/>
          <p:nvPr/>
        </p:nvSpPr>
        <p:spPr>
          <a:xfrm>
            <a:off x="5229967" y="5011895"/>
            <a:ext cx="1170833" cy="36317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000" b="1" dirty="0">
                <a:solidFill>
                  <a:srgbClr val="255B8C"/>
                </a:solidFill>
                <a:latin typeface="Aptos"/>
              </a:rPr>
              <a:t>A</a:t>
            </a:r>
            <a:r>
              <a:rPr lang="en-US" sz="2000" b="1" dirty="0">
                <a:solidFill>
                  <a:srgbClr val="255B8C"/>
                </a:solidFill>
                <a:latin typeface="Aptos"/>
              </a:rPr>
              <a:t>LTITUDE</a:t>
            </a:r>
            <a:endParaRPr sz="2000" b="1" dirty="0">
              <a:solidFill>
                <a:srgbClr val="255B8C"/>
              </a:solidFill>
              <a:latin typeface="Apto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D834E8-D30F-2443-7141-09DBDCA3E75C}"/>
              </a:ext>
            </a:extLst>
          </p:cNvPr>
          <p:cNvSpPr txBox="1"/>
          <p:nvPr/>
        </p:nvSpPr>
        <p:spPr>
          <a:xfrm>
            <a:off x="5178592" y="5421367"/>
            <a:ext cx="1383712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IN" sz="1600" b="1" dirty="0">
                <a:solidFill>
                  <a:srgbClr val="141C26"/>
                </a:solidFill>
                <a:latin typeface="Aptos"/>
              </a:rPr>
              <a:t>Measured in ft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61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8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PHASE IV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 err="1">
                <a:solidFill>
                  <a:srgbClr val="1C2632"/>
                </a:solidFill>
                <a:latin typeface="Aptos"/>
              </a:rPr>
              <a:t>Zenoh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-C: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R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eal-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ime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ommunication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L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latin typeface="Aptos"/>
              </a:rPr>
              <a:t>A simple publish–subscribe model, placed inside a time-critical simulation.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2971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50292" cy="205740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130552"/>
            <a:ext cx="262432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C2632"/>
                </a:solidFill>
                <a:latin typeface="Aptos"/>
              </a:rPr>
              <a:t>PUBLISHER</a:t>
            </a:r>
            <a:endParaRPr sz="15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9536" y="2532888"/>
            <a:ext cx="258775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Aircraft state
</a:t>
            </a:r>
            <a:r>
              <a:rPr lang="en-US" sz="1600" b="0" dirty="0">
                <a:latin typeface="Aptos"/>
              </a:rPr>
              <a:t>         </a:t>
            </a:r>
            <a:r>
              <a:rPr sz="1600" b="0" dirty="0">
                <a:latin typeface="Aptos"/>
              </a:rPr>
              <a:t>↓
Serialize telemetry
</a:t>
            </a:r>
            <a:r>
              <a:rPr lang="en-US" sz="1600" b="0" dirty="0">
                <a:latin typeface="Aptos"/>
              </a:rPr>
              <a:t>         </a:t>
            </a:r>
            <a:r>
              <a:rPr sz="1600" b="0" dirty="0">
                <a:latin typeface="Aptos"/>
              </a:rPr>
              <a:t>↓
Publish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965960"/>
            <a:ext cx="2971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1965960"/>
            <a:ext cx="50292" cy="2057400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2130552"/>
            <a:ext cx="262432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C2632"/>
                </a:solidFill>
                <a:latin typeface="Aptos"/>
              </a:rPr>
              <a:t>ZENOH</a:t>
            </a:r>
            <a:endParaRPr sz="15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18888" y="2532888"/>
            <a:ext cx="25877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>
                <a:latin typeface="Aptos"/>
              </a:rPr>
              <a:t>Session
Key expression
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77072" y="1965960"/>
            <a:ext cx="2971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77072" y="1965960"/>
            <a:ext cx="50292" cy="2057400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78240" y="2130552"/>
            <a:ext cx="262432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1" dirty="0">
                <a:solidFill>
                  <a:srgbClr val="1C2632"/>
                </a:solidFill>
                <a:latin typeface="Aptos"/>
              </a:rPr>
              <a:t>SUBSCRIBER</a:t>
            </a:r>
            <a:endParaRPr sz="15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0" y="2532888"/>
            <a:ext cx="258775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Receive message
</a:t>
            </a:r>
            <a:r>
              <a:rPr lang="en-US" sz="1600" b="0" dirty="0">
                <a:latin typeface="Aptos"/>
              </a:rPr>
              <a:t>                </a:t>
            </a:r>
            <a:r>
              <a:rPr sz="1600" b="0" dirty="0">
                <a:latin typeface="Aptos"/>
              </a:rPr>
              <a:t>↓
Queue / process
</a:t>
            </a:r>
            <a:r>
              <a:rPr lang="en-US" sz="1600" b="0" dirty="0">
                <a:latin typeface="Aptos"/>
              </a:rPr>
              <a:t>                </a:t>
            </a:r>
            <a:r>
              <a:rPr sz="1600" b="0" dirty="0">
                <a:latin typeface="Aptos"/>
              </a:rPr>
              <a:t>↓
External consumer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7" y="2990088"/>
            <a:ext cx="877825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35240" y="2990088"/>
            <a:ext cx="877824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617720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58591"/>
                </a:solidFill>
                <a:latin typeface="Aptos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56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1C2632"/>
                </a:solidFill>
                <a:latin typeface="Aptos"/>
              </a:rPr>
              <a:t>External observation becomes possible without embedding the observer into the simulation executable.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0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9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" y="6479940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F8EDD1-5C9F-F8D9-42EE-DA9AA78BFD0A}"/>
              </a:ext>
            </a:extLst>
          </p:cNvPr>
          <p:cNvSpPr/>
          <p:nvPr/>
        </p:nvSpPr>
        <p:spPr>
          <a:xfrm>
            <a:off x="0" y="-22205"/>
            <a:ext cx="1250367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E0A51-98A4-B68A-FB44-08E3432D0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27" y="-46758"/>
            <a:ext cx="12586805" cy="708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02401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2205"/>
            <a:ext cx="12503679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9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PHASE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SAM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E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ngagement: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losing the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L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latin typeface="Aptos"/>
              </a:rPr>
              <a:t>The missile consumes the target state and continuously updates its trajectory.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Oval 6"/>
          <p:cNvSpPr/>
          <p:nvPr/>
        </p:nvSpPr>
        <p:spPr>
          <a:xfrm>
            <a:off x="1175003" y="2342425"/>
            <a:ext cx="836203" cy="820420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7670" y="2600239"/>
            <a:ext cx="1047479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AIR</a:t>
            </a:r>
            <a:r>
              <a:rPr lang="en-US" sz="1200" b="1" dirty="0">
                <a:solidFill>
                  <a:srgbClr val="FFFFFF"/>
                </a:solidFill>
                <a:latin typeface="Aptos"/>
              </a:rPr>
              <a:t>CRAFT</a:t>
            </a:r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cxnSp>
        <p:nvCxnSpPr>
          <p:cNvPr id="9" name="Connector 8"/>
          <p:cNvCxnSpPr>
            <a:cxnSpLocks/>
          </p:cNvCxnSpPr>
          <p:nvPr/>
        </p:nvCxnSpPr>
        <p:spPr>
          <a:xfrm>
            <a:off x="2025396" y="2735617"/>
            <a:ext cx="1377276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396995" y="2342425"/>
            <a:ext cx="836203" cy="820420"/>
          </a:xfrm>
          <a:prstGeom prst="ellipse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6995" y="2600239"/>
            <a:ext cx="83620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LOS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4238244" y="2735617"/>
            <a:ext cx="1357600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591555" y="2342425"/>
            <a:ext cx="836203" cy="820420"/>
          </a:xfrm>
          <a:prstGeom prst="ellipse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91555" y="2600239"/>
            <a:ext cx="83620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PN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6432804" y="2735617"/>
            <a:ext cx="1357600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786115" y="2342425"/>
            <a:ext cx="836203" cy="820420"/>
          </a:xfrm>
          <a:prstGeom prst="ellipse">
            <a:avLst/>
          </a:prstGeom>
          <a:solidFill>
            <a:srgbClr val="6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6115" y="2600239"/>
            <a:ext cx="836203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CMD</a:t>
            </a:r>
          </a:p>
        </p:txBody>
      </p:sp>
      <p:cxnSp>
        <p:nvCxnSpPr>
          <p:cNvPr id="18" name="Connector 17"/>
          <p:cNvCxnSpPr>
            <a:cxnSpLocks/>
          </p:cNvCxnSpPr>
          <p:nvPr/>
        </p:nvCxnSpPr>
        <p:spPr>
          <a:xfrm>
            <a:off x="8627364" y="2735617"/>
            <a:ext cx="1357600" cy="0"/>
          </a:xfrm>
          <a:prstGeom prst="line">
            <a:avLst/>
          </a:prstGeom>
          <a:ln w="2540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980675" y="2342425"/>
            <a:ext cx="836203" cy="820420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80675" y="2607507"/>
            <a:ext cx="836203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MISS</a:t>
            </a:r>
            <a:r>
              <a:rPr lang="en-US" sz="1100" b="1" dirty="0">
                <a:solidFill>
                  <a:srgbClr val="FFFFFF"/>
                </a:solidFill>
                <a:latin typeface="Aptos"/>
              </a:rPr>
              <a:t>ILE</a:t>
            </a:r>
            <a:endParaRPr sz="1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32687" y="3260167"/>
            <a:ext cx="152484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latin typeface="Aptos"/>
              </a:rPr>
              <a:t>Target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2676" y="3268296"/>
            <a:ext cx="142646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latin typeface="Aptos"/>
              </a:rPr>
              <a:t>Line-of-sight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7" y="3208422"/>
            <a:ext cx="1524841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latin typeface="Aptos"/>
              </a:rPr>
              <a:t>Proportional
Navigation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0668" y="3217567"/>
            <a:ext cx="122971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latin typeface="Aptos"/>
              </a:rPr>
              <a:t>Steering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2368" y="3192491"/>
            <a:ext cx="142646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latin typeface="Aptos"/>
              </a:rPr>
              <a:t>Updated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45152"/>
            <a:ext cx="105156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632"/>
                </a:solidFill>
                <a:latin typeface="Aptos"/>
              </a:rPr>
              <a:t>The guidance logic was not treated as a black box: the target state, trajectory and relative distance were monitored during execution.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1" dirty="0">
                <a:solidFill>
                  <a:srgbClr val="788491"/>
                </a:solidFill>
                <a:latin typeface="Aptos"/>
              </a:rPr>
              <a:t>10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78744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293814-77DF-EDFF-7696-9BA9624BA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34244"/>
            <a:ext cx="6328064" cy="30237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899D9F-423C-46C5-D78A-13C078BDA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64" y="3887023"/>
            <a:ext cx="5863936" cy="2970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9FA9D7-C57F-1CDA-9484-80C26ECBB9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6018" y="-6386"/>
            <a:ext cx="3525982" cy="39549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CE8D71-74FA-62F7-2C74-DE6C69FB3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7145" y="-3193"/>
            <a:ext cx="4488873" cy="3948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14CC3C-0460-5AF3-A674-A6A542EF16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-1"/>
            <a:ext cx="4177145" cy="394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03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95794"/>
            <a:ext cx="12191695" cy="7324126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00" b="1" dirty="0">
                <a:solidFill>
                  <a:srgbClr val="158591"/>
                </a:solidFill>
                <a:latin typeface="Aptos"/>
              </a:rPr>
              <a:t>10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The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ritical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E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ngineering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P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roblem: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latin typeface="Aptos"/>
              </a:rPr>
              <a:t>The first implementation worked conceptually — but it was not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5166360" cy="2880360"/>
          </a:xfrm>
          <a:prstGeom prst="roundRect">
            <a:avLst/>
          </a:prstGeom>
          <a:solidFill>
            <a:srgbClr val="FCF5F5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965960"/>
            <a:ext cx="50292" cy="2880360"/>
          </a:xfrm>
          <a:prstGeom prst="rect">
            <a:avLst/>
          </a:prstGeom>
          <a:solidFill>
            <a:srgbClr val="B6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557" y="2226679"/>
            <a:ext cx="481888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400" b="1" dirty="0">
                <a:solidFill>
                  <a:srgbClr val="1C2632"/>
                </a:solidFill>
                <a:latin typeface="Aptos"/>
              </a:rPr>
              <a:t>EARLY PROTOTYPE</a:t>
            </a:r>
            <a:endParaRPr sz="24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6383" y="2949062"/>
            <a:ext cx="4782312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 err="1">
                <a:latin typeface="Aptos"/>
              </a:rPr>
              <a:t>Zenoh</a:t>
            </a:r>
            <a:r>
              <a:rPr b="0" dirty="0">
                <a:latin typeface="Aptos"/>
              </a:rPr>
              <a:t> callback thread
     ↓
Directly updates </a:t>
            </a:r>
            <a:r>
              <a:rPr b="0" dirty="0" err="1">
                <a:latin typeface="Aptos"/>
              </a:rPr>
              <a:t>OpenEaagles</a:t>
            </a:r>
            <a:r>
              <a:rPr b="0" dirty="0">
                <a:latin typeface="Aptos"/>
              </a:rPr>
              <a:t> objects
     ↓
Intermittent crashes / unstable </a:t>
            </a:r>
            <a:r>
              <a:rPr b="0" dirty="0" err="1">
                <a:latin typeface="Aptos"/>
              </a:rPr>
              <a:t>behaviour</a:t>
            </a:r>
            <a:endParaRPr b="0" dirty="0"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09360" y="1965960"/>
            <a:ext cx="5166360" cy="2880360"/>
          </a:xfrm>
          <a:prstGeom prst="roundRect">
            <a:avLst/>
          </a:prstGeom>
          <a:solidFill>
            <a:srgbClr val="F4FAF7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65960"/>
            <a:ext cx="50292" cy="2880360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8034" y="2155069"/>
            <a:ext cx="481888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400" b="1" dirty="0">
                <a:solidFill>
                  <a:srgbClr val="1C2632"/>
                </a:solidFill>
                <a:latin typeface="Aptos"/>
              </a:rPr>
              <a:t>RESOLVED DESIGN</a:t>
            </a:r>
            <a:endParaRPr sz="24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4645" y="2662454"/>
            <a:ext cx="4782312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0" dirty="0" err="1">
                <a:latin typeface="Aptos"/>
              </a:rPr>
              <a:t>Zenoh</a:t>
            </a:r>
            <a:r>
              <a:rPr b="0" dirty="0">
                <a:latin typeface="Aptos"/>
              </a:rPr>
              <a:t> callback thread
       ↓
Thread-safe queue
       ↓
Simulation thread consumes updates
       ↓
</a:t>
            </a:r>
            <a:r>
              <a:rPr b="0" dirty="0" err="1">
                <a:latin typeface="Aptos"/>
              </a:rPr>
              <a:t>OpenEaagles</a:t>
            </a:r>
            <a:r>
              <a:rPr b="0" dirty="0">
                <a:latin typeface="Aptos"/>
              </a:rPr>
              <a:t> object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078" y="5762458"/>
            <a:ext cx="127232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rgbClr val="158591"/>
                </a:solidFill>
                <a:latin typeface="Aptos"/>
              </a:rPr>
              <a:t>NOTE :-</a:t>
            </a:r>
            <a:endParaRPr sz="1200" b="1" dirty="0">
              <a:solidFill>
                <a:srgbClr val="158591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05722" y="5692245"/>
            <a:ext cx="96012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C2632"/>
                </a:solidFill>
                <a:latin typeface="Aptos"/>
              </a:rPr>
              <a:t>Real-time systems are not only about speed</a:t>
            </a:r>
            <a:r>
              <a:rPr lang="en-US" sz="1700" b="1" dirty="0">
                <a:solidFill>
                  <a:srgbClr val="1C2632"/>
                </a:solidFill>
                <a:latin typeface="Aptos"/>
              </a:rPr>
              <a:t> , </a:t>
            </a:r>
            <a:r>
              <a:rPr sz="1700" b="1" dirty="0">
                <a:solidFill>
                  <a:srgbClr val="1C2632"/>
                </a:solidFill>
                <a:latin typeface="Aptos"/>
              </a:rPr>
              <a:t>they are about ownership, timing and safe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1" dirty="0">
                <a:solidFill>
                  <a:srgbClr val="788491"/>
                </a:solidFill>
                <a:latin typeface="Aptos"/>
              </a:rPr>
              <a:t>11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" y="64739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0B3322-BED2-86AE-9980-703A43C14B01}"/>
              </a:ext>
            </a:extLst>
          </p:cNvPr>
          <p:cNvSpPr txBox="1"/>
          <p:nvPr/>
        </p:nvSpPr>
        <p:spPr>
          <a:xfrm>
            <a:off x="838117" y="5118472"/>
            <a:ext cx="4678845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600" b="1" dirty="0">
                <a:latin typeface="Aptos"/>
              </a:rPr>
              <a:t>Problem: </a:t>
            </a:r>
            <a:r>
              <a:rPr sz="1600" b="0" dirty="0">
                <a:latin typeface="Aptos"/>
              </a:rPr>
              <a:t>communication thread → simulation object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D575E1-8DC5-3C71-031C-A55F2ED0647D}"/>
              </a:ext>
            </a:extLst>
          </p:cNvPr>
          <p:cNvSpPr txBox="1"/>
          <p:nvPr/>
        </p:nvSpPr>
        <p:spPr>
          <a:xfrm>
            <a:off x="6301175" y="5093034"/>
            <a:ext cx="589052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 dirty="0">
                <a:latin typeface="Aptos"/>
              </a:rPr>
              <a:t>Result: </a:t>
            </a:r>
            <a:r>
              <a:rPr sz="1600" b="0" dirty="0">
                <a:latin typeface="Aptos"/>
              </a:rPr>
              <a:t>communication remains outside the simulation object's thread.</a:t>
            </a:r>
          </a:p>
        </p:txBody>
      </p:sp>
    </p:spTree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86215"/>
            <a:ext cx="12191695" cy="6944215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900" b="1" dirty="0">
                <a:solidFill>
                  <a:srgbClr val="1C2632"/>
                </a:solidFill>
                <a:latin typeface="Aptos"/>
              </a:rPr>
              <a:t>P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roblems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hat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aught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M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M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latin typeface="Aptos"/>
              </a:rPr>
              <a:t>Every failure became a systems-level debugging exercise.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828800"/>
            <a:ext cx="512064" cy="512064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00662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632"/>
                </a:solidFill>
                <a:latin typeface="Aptos"/>
              </a:rPr>
              <a:t>Library linking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6824" y="1938189"/>
            <a:ext cx="2362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B64848"/>
                </a:solidFill>
                <a:latin typeface="Aptos"/>
              </a:rPr>
              <a:t>Undefined references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2084832"/>
            <a:ext cx="548640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60920" y="1755648"/>
            <a:ext cx="445312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Resolved dependency order: </a:t>
            </a:r>
            <a:r>
              <a:rPr b="0" dirty="0" err="1">
                <a:latin typeface="Aptos"/>
              </a:rPr>
              <a:t>oe_simulation</a:t>
            </a:r>
            <a:r>
              <a:rPr b="0" dirty="0">
                <a:latin typeface="Aptos"/>
              </a:rPr>
              <a:t> → </a:t>
            </a:r>
            <a:r>
              <a:rPr b="0" dirty="0" err="1">
                <a:latin typeface="Aptos"/>
              </a:rPr>
              <a:t>oe_base</a:t>
            </a:r>
            <a:r>
              <a:rPr b="0" dirty="0">
                <a:latin typeface="Aptos"/>
              </a:rPr>
              <a:t> relationship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728557"/>
            <a:ext cx="512064" cy="512064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728557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1" y="2812159"/>
            <a:ext cx="28346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1C2632"/>
                </a:solidFill>
                <a:latin typeface="Aptos"/>
              </a:rPr>
              <a:t> </a:t>
            </a:r>
            <a:r>
              <a:rPr sz="2000" b="1" dirty="0">
                <a:solidFill>
                  <a:srgbClr val="1C2632"/>
                </a:solidFill>
                <a:latin typeface="Aptos"/>
              </a:rPr>
              <a:t>Slot table / slot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9966" y="2838615"/>
            <a:ext cx="2457994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B64848"/>
                </a:solidFill>
                <a:latin typeface="Aptos"/>
              </a:rPr>
              <a:t>Compile-time mismatch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37960" y="2984589"/>
            <a:ext cx="548640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45677" y="2668004"/>
            <a:ext cx="466561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Matched every slot-table entry to its slot-map handler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673908"/>
            <a:ext cx="512064" cy="512064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673908"/>
            <a:ext cx="512064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1" y="3760607"/>
            <a:ext cx="307630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>
                <a:solidFill>
                  <a:srgbClr val="1C2632"/>
                </a:solidFill>
                <a:latin typeface="Aptos"/>
              </a:rPr>
              <a:t> </a:t>
            </a:r>
            <a:r>
              <a:rPr sz="2000" b="1" dirty="0">
                <a:solidFill>
                  <a:srgbClr val="1C2632"/>
                </a:solidFill>
                <a:latin typeface="Aptos"/>
              </a:rPr>
              <a:t>Thread synchronization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044" y="3686971"/>
            <a:ext cx="2457993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B64848"/>
                </a:solidFill>
                <a:latin typeface="Aptos"/>
              </a:rPr>
              <a:t>Runtime crash / instability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3929940"/>
            <a:ext cx="548640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60920" y="3625415"/>
            <a:ext cx="466561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Separated </a:t>
            </a:r>
            <a:r>
              <a:rPr b="0" dirty="0" err="1">
                <a:latin typeface="Aptos"/>
              </a:rPr>
              <a:t>Zenoh</a:t>
            </a:r>
            <a:r>
              <a:rPr b="0" dirty="0">
                <a:latin typeface="Aptos"/>
              </a:rPr>
              <a:t> callback work from simulation-thread object updates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528489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2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4128" y="651586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49720C5-49AB-04A2-1946-C82CE0A460A7}"/>
              </a:ext>
            </a:extLst>
          </p:cNvPr>
          <p:cNvSpPr/>
          <p:nvPr/>
        </p:nvSpPr>
        <p:spPr>
          <a:xfrm>
            <a:off x="652272" y="4601299"/>
            <a:ext cx="512064" cy="512064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071BB2-C2FB-EBCF-CEB1-DBB8282927AF}"/>
              </a:ext>
            </a:extLst>
          </p:cNvPr>
          <p:cNvSpPr txBox="1"/>
          <p:nvPr/>
        </p:nvSpPr>
        <p:spPr>
          <a:xfrm>
            <a:off x="652272" y="4741915"/>
            <a:ext cx="512064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ptos"/>
              </a:rPr>
              <a:t>0</a:t>
            </a:r>
            <a:r>
              <a:rPr lang="en-US" sz="900" b="1" dirty="0">
                <a:solidFill>
                  <a:srgbClr val="FFFFFF"/>
                </a:solidFill>
                <a:latin typeface="Aptos"/>
              </a:rPr>
              <a:t>4</a:t>
            </a:r>
            <a:endParaRPr sz="9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FDD5DC-C6AF-5C96-ED57-588C22B317EC}"/>
              </a:ext>
            </a:extLst>
          </p:cNvPr>
          <p:cNvSpPr txBox="1"/>
          <p:nvPr/>
        </p:nvSpPr>
        <p:spPr>
          <a:xfrm>
            <a:off x="1417320" y="4688592"/>
            <a:ext cx="3076303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dirty="0" err="1">
                <a:solidFill>
                  <a:srgbClr val="1C2632"/>
                </a:solidFill>
                <a:latin typeface="Aptos"/>
              </a:rPr>
              <a:t>Numerics</a:t>
            </a:r>
            <a:endParaRPr sz="20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4DF513-3ADE-FD57-29A4-0D2BE4972877}"/>
              </a:ext>
            </a:extLst>
          </p:cNvPr>
          <p:cNvSpPr txBox="1"/>
          <p:nvPr/>
        </p:nvSpPr>
        <p:spPr>
          <a:xfrm>
            <a:off x="4206242" y="4614362"/>
            <a:ext cx="2394855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  <a:latin typeface="Aptos"/>
              </a:rPr>
              <a:t>LOS wraparound / near-zero velocity produced invalid guidance behaviour</a:t>
            </a:r>
            <a:endParaRPr sz="1600" b="1" dirty="0">
              <a:solidFill>
                <a:srgbClr val="C00000"/>
              </a:solidFill>
              <a:latin typeface="Aptos"/>
            </a:endParaRPr>
          </a:p>
        </p:txBody>
      </p:sp>
      <p:cxnSp>
        <p:nvCxnSpPr>
          <p:cNvPr id="32" name="Connector 22">
            <a:extLst>
              <a:ext uri="{FF2B5EF4-FFF2-40B4-BE49-F238E27FC236}">
                <a16:creationId xmlns:a16="http://schemas.microsoft.com/office/drawing/2014/main" id="{72C23FF0-BB1C-47CB-2E2C-54C83D48D9A0}"/>
              </a:ext>
            </a:extLst>
          </p:cNvPr>
          <p:cNvCxnSpPr/>
          <p:nvPr/>
        </p:nvCxnSpPr>
        <p:spPr>
          <a:xfrm>
            <a:off x="6504432" y="4857331"/>
            <a:ext cx="548640" cy="0"/>
          </a:xfrm>
          <a:prstGeom prst="line">
            <a:avLst/>
          </a:prstGeom>
          <a:ln w="1905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FBD8E72-40C6-47EF-AE16-701918F16A3E}"/>
              </a:ext>
            </a:extLst>
          </p:cNvPr>
          <p:cNvSpPr txBox="1"/>
          <p:nvPr/>
        </p:nvSpPr>
        <p:spPr>
          <a:xfrm>
            <a:off x="7310195" y="4614362"/>
            <a:ext cx="4665616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Aptos"/>
              </a:rPr>
              <a:t>Normalized angle difference and guarded low-velocity division.</a:t>
            </a:r>
            <a:endParaRPr b="0" dirty="0">
              <a:latin typeface="Aptos"/>
            </a:endParaRPr>
          </a:p>
        </p:txBody>
      </p:sp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704088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2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Build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E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nvironment: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W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hat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I L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earned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B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eyond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project forced me to understand the software around the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3429000" cy="13186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66544"/>
            <a:ext cx="358444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dirty="0">
                <a:solidFill>
                  <a:srgbClr val="1C2632"/>
                </a:solidFill>
                <a:latin typeface="Aptos"/>
              </a:rPr>
              <a:t>MinGW</a:t>
            </a:r>
            <a:r>
              <a:rPr lang="en-US" sz="1500" b="1" dirty="0">
                <a:solidFill>
                  <a:srgbClr val="1C2632"/>
                </a:solidFill>
                <a:latin typeface="Aptos"/>
              </a:rPr>
              <a:t> </a:t>
            </a:r>
            <a:r>
              <a:rPr lang="en-IN" sz="1600" dirty="0"/>
              <a:t>(</a:t>
            </a:r>
            <a:r>
              <a:rPr lang="en-IN" sz="1600" b="1" dirty="0"/>
              <a:t>Minimalist GNU for Windows</a:t>
            </a:r>
            <a:r>
              <a:rPr lang="en-IN" sz="1600" dirty="0"/>
              <a:t>) </a:t>
            </a:r>
            <a:endParaRPr sz="15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2856" y="2427259"/>
            <a:ext cx="304495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It is a software development toolset that lets you compile and run native C, C++, and Fortran programs on Windows</a:t>
            </a:r>
            <a:endParaRPr sz="1200" b="0" dirty="0"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25696" y="1901951"/>
            <a:ext cx="3477768" cy="1318680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26864" y="2066544"/>
            <a:ext cx="30815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 err="1">
                <a:solidFill>
                  <a:srgbClr val="1C2632"/>
                </a:solidFill>
                <a:latin typeface="Aptos"/>
              </a:rPr>
              <a:t>CMake</a:t>
            </a:r>
            <a:endParaRPr sz="16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32376" y="2411274"/>
            <a:ext cx="3044952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It is a free, open-source, and cross-platform build system generator used in </a:t>
            </a:r>
            <a:r>
              <a:rPr sz="1200" b="0" dirty="0" err="1">
                <a:latin typeface="Aptos"/>
              </a:rPr>
              <a:t>Zenoh</a:t>
            </a:r>
            <a:r>
              <a:rPr sz="1200" b="0" dirty="0">
                <a:latin typeface="Aptos"/>
              </a:rPr>
              <a:t>-C build + project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3024" y="1901951"/>
            <a:ext cx="3419856" cy="1318679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066544"/>
            <a:ext cx="30815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MSVC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6" y="2427259"/>
            <a:ext cx="304495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A C++ compiler released by Microsoft on March 7, 2017, as part of Visual Studio 2017</a:t>
            </a:r>
            <a:endParaRPr sz="1200" b="0" dirty="0"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" y="3410712"/>
            <a:ext cx="3429000" cy="136223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58952" y="3600006"/>
            <a:ext cx="32461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dirty="0">
                <a:solidFill>
                  <a:srgbClr val="1C2632"/>
                </a:solidFill>
                <a:latin typeface="Aptos"/>
              </a:rPr>
              <a:t>EDL</a:t>
            </a:r>
            <a:r>
              <a:rPr lang="en-US" sz="1600" b="1" dirty="0">
                <a:solidFill>
                  <a:srgbClr val="1C2632"/>
                </a:solidFill>
                <a:latin typeface="Aptos"/>
              </a:rPr>
              <a:t> (</a:t>
            </a:r>
            <a:r>
              <a:rPr lang="en-IN" sz="1600" b="1" dirty="0" err="1"/>
              <a:t>Eaagles</a:t>
            </a:r>
            <a:r>
              <a:rPr lang="en-IN" sz="1600" b="1" dirty="0"/>
              <a:t> Description Language)</a:t>
            </a:r>
            <a:endParaRPr sz="16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52" y="3915157"/>
            <a:ext cx="338328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It is an object-oriented text language used exclusively within the framework to configure, initialize simulation components without hardcoding those definitions directly into C++.</a:t>
            </a:r>
            <a:endParaRPr sz="1150" b="0" dirty="0"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425696" y="3410710"/>
            <a:ext cx="3246120" cy="136223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26864" y="3575304"/>
            <a:ext cx="30815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632"/>
                </a:solidFill>
                <a:latin typeface="Aptos"/>
              </a:rPr>
              <a:t>GDB / ASan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2376" y="3886200"/>
            <a:ext cx="3276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 err="1"/>
              <a:t>Ascan</a:t>
            </a:r>
            <a:r>
              <a:rPr lang="en-IN" sz="1200" dirty="0"/>
              <a:t> is a fast memory error detector built into compilers like GCC and Clang, while GDB is the tool used to inspect the code when those errors trigger.</a:t>
            </a:r>
            <a:endParaRPr sz="1200" dirty="0"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58591"/>
                </a:solidFill>
                <a:latin typeface="Aptos"/>
              </a:rPr>
              <a:t>SHIFT IN MINDSET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1C2632"/>
                </a:solidFill>
                <a:latin typeface="Aptos"/>
              </a:rPr>
              <a:t>I stopped treating build errors as blockers and started treating them as evidence about how a system is structured.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213" y="6508024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3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3693" y="65013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6DEC47-8020-38B2-13D7-3504C3BF2010}"/>
              </a:ext>
            </a:extLst>
          </p:cNvPr>
          <p:cNvSpPr/>
          <p:nvPr/>
        </p:nvSpPr>
        <p:spPr>
          <a:xfrm>
            <a:off x="-68364" y="0"/>
            <a:ext cx="12260364" cy="722376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1A89B-1B58-4865-2F8B-23B90FACB76C}"/>
              </a:ext>
            </a:extLst>
          </p:cNvPr>
          <p:cNvSpPr txBox="1"/>
          <p:nvPr/>
        </p:nvSpPr>
        <p:spPr>
          <a:xfrm>
            <a:off x="594360" y="658368"/>
            <a:ext cx="7571496" cy="47089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lang="en-US" sz="2700" b="1" dirty="0">
                <a:solidFill>
                  <a:srgbClr val="141C26"/>
                </a:solidFill>
                <a:latin typeface="Aptos"/>
              </a:rPr>
              <a:t>Validated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T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he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L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ayers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B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efore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T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rusting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T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he </a:t>
            </a:r>
            <a:r>
              <a:rPr lang="en-US" sz="2700" b="1" dirty="0">
                <a:solidFill>
                  <a:srgbClr val="141C26"/>
                </a:solidFill>
                <a:latin typeface="Aptos"/>
              </a:rPr>
              <a:t>S</a:t>
            </a:r>
            <a:r>
              <a:rPr sz="2700" b="1" dirty="0">
                <a:solidFill>
                  <a:srgbClr val="141C26"/>
                </a:solidFill>
                <a:latin typeface="Aptos"/>
              </a:rPr>
              <a:t>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FEC538-566D-68B4-97B8-02E3C7489491}"/>
              </a:ext>
            </a:extLst>
          </p:cNvPr>
          <p:cNvSpPr txBox="1"/>
          <p:nvPr/>
        </p:nvSpPr>
        <p:spPr>
          <a:xfrm>
            <a:off x="612648" y="1298448"/>
            <a:ext cx="11241604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validation strategy deliberately separated framework correctness, communication correctness and simulation correctness.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E3C929-F7FB-B250-4C8B-58BCC9BCC18F}"/>
              </a:ext>
            </a:extLst>
          </p:cNvPr>
          <p:cNvSpPr/>
          <p:nvPr/>
        </p:nvSpPr>
        <p:spPr>
          <a:xfrm>
            <a:off x="868680" y="1874519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89D36C-7780-B984-5A52-B749FB1910E3}"/>
              </a:ext>
            </a:extLst>
          </p:cNvPr>
          <p:cNvSpPr/>
          <p:nvPr/>
        </p:nvSpPr>
        <p:spPr>
          <a:xfrm>
            <a:off x="1097280" y="2002536"/>
            <a:ext cx="310896" cy="310896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DA2BB-5D9A-4950-8A5C-B84BB486D58C}"/>
              </a:ext>
            </a:extLst>
          </p:cNvPr>
          <p:cNvSpPr txBox="1"/>
          <p:nvPr/>
        </p:nvSpPr>
        <p:spPr>
          <a:xfrm>
            <a:off x="1097280" y="2093976"/>
            <a:ext cx="310896" cy="1097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 dirty="0">
                <a:solidFill>
                  <a:srgbClr val="255B8C"/>
                </a:solidFill>
                <a:latin typeface="Aptos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56BE5B-9F93-AADA-0EEC-A42B1BA4F986}"/>
              </a:ext>
            </a:extLst>
          </p:cNvPr>
          <p:cNvSpPr txBox="1"/>
          <p:nvPr/>
        </p:nvSpPr>
        <p:spPr>
          <a:xfrm>
            <a:off x="1600200" y="2039112"/>
            <a:ext cx="1289520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41C26"/>
                </a:solidFill>
                <a:latin typeface="Aptos"/>
              </a:rPr>
              <a:t>OpenEaagles</a:t>
            </a:r>
            <a:endParaRPr sz="1600"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11A423-C560-5399-5059-9D70D9D30C53}"/>
              </a:ext>
            </a:extLst>
          </p:cNvPr>
          <p:cNvSpPr txBox="1"/>
          <p:nvPr/>
        </p:nvSpPr>
        <p:spPr>
          <a:xfrm>
            <a:off x="3962880" y="2039112"/>
            <a:ext cx="1850763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 dirty="0">
                <a:latin typeface="Aptos"/>
              </a:rPr>
              <a:t>Compile + run samples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1EC736-1675-E036-B69D-7A2FB1948CFE}"/>
              </a:ext>
            </a:extLst>
          </p:cNvPr>
          <p:cNvSpPr txBox="1"/>
          <p:nvPr/>
        </p:nvSpPr>
        <p:spPr>
          <a:xfrm>
            <a:off x="10401099" y="2039112"/>
            <a:ext cx="48026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400" b="1" dirty="0">
                <a:solidFill>
                  <a:srgbClr val="2C7A58"/>
                </a:solidFill>
                <a:latin typeface="Aptos"/>
              </a:rPr>
              <a:t>PASS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E2660F-0536-4731-B21A-EF02FBA02CCF}"/>
              </a:ext>
            </a:extLst>
          </p:cNvPr>
          <p:cNvSpPr/>
          <p:nvPr/>
        </p:nvSpPr>
        <p:spPr>
          <a:xfrm>
            <a:off x="868680" y="2624327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465E7E3-BD38-5926-5497-BD676FC0782C}"/>
              </a:ext>
            </a:extLst>
          </p:cNvPr>
          <p:cNvSpPr/>
          <p:nvPr/>
        </p:nvSpPr>
        <p:spPr>
          <a:xfrm>
            <a:off x="1097280" y="2752344"/>
            <a:ext cx="310896" cy="310896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BF419C-16B6-DB63-0DCA-437AAE9A2B27}"/>
              </a:ext>
            </a:extLst>
          </p:cNvPr>
          <p:cNvSpPr txBox="1"/>
          <p:nvPr/>
        </p:nvSpPr>
        <p:spPr>
          <a:xfrm>
            <a:off x="1097280" y="2843783"/>
            <a:ext cx="310896" cy="1097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255B8C"/>
                </a:solidFill>
                <a:latin typeface="Aptos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04491-05FF-E53A-583E-64291ACC8202}"/>
              </a:ext>
            </a:extLst>
          </p:cNvPr>
          <p:cNvSpPr txBox="1"/>
          <p:nvPr/>
        </p:nvSpPr>
        <p:spPr>
          <a:xfrm>
            <a:off x="1600200" y="2788920"/>
            <a:ext cx="852477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 err="1">
                <a:solidFill>
                  <a:srgbClr val="141C26"/>
                </a:solidFill>
                <a:latin typeface="Aptos"/>
              </a:rPr>
              <a:t>Zenoh</a:t>
            </a:r>
            <a:r>
              <a:rPr sz="1600" b="1" dirty="0">
                <a:solidFill>
                  <a:srgbClr val="141C26"/>
                </a:solidFill>
                <a:latin typeface="Aptos"/>
              </a:rPr>
              <a:t>-C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2F443-C538-D268-B97E-AF9E36ED787B}"/>
              </a:ext>
            </a:extLst>
          </p:cNvPr>
          <p:cNvSpPr txBox="1"/>
          <p:nvPr/>
        </p:nvSpPr>
        <p:spPr>
          <a:xfrm>
            <a:off x="3965124" y="2788920"/>
            <a:ext cx="1848519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 dirty="0">
                <a:latin typeface="Aptos"/>
              </a:rPr>
              <a:t>Publisher ↔ subscriber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D50C4-D7A0-D6CA-BAB4-867026B0B367}"/>
              </a:ext>
            </a:extLst>
          </p:cNvPr>
          <p:cNvSpPr txBox="1"/>
          <p:nvPr/>
        </p:nvSpPr>
        <p:spPr>
          <a:xfrm>
            <a:off x="10401099" y="2788920"/>
            <a:ext cx="48026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lang="en-IN" sz="1400" b="1" dirty="0">
                <a:solidFill>
                  <a:srgbClr val="2C7A58"/>
                </a:solidFill>
                <a:latin typeface="Aptos"/>
              </a:rPr>
              <a:t>PASS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68F72AF-5CCE-5468-08BC-9C8E25A08995}"/>
              </a:ext>
            </a:extLst>
          </p:cNvPr>
          <p:cNvSpPr/>
          <p:nvPr/>
        </p:nvSpPr>
        <p:spPr>
          <a:xfrm>
            <a:off x="868680" y="3374135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D2CE14-F830-D37C-069B-A6DE6C1CD5A9}"/>
              </a:ext>
            </a:extLst>
          </p:cNvPr>
          <p:cNvSpPr/>
          <p:nvPr/>
        </p:nvSpPr>
        <p:spPr>
          <a:xfrm>
            <a:off x="1097280" y="3502151"/>
            <a:ext cx="310896" cy="310896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6E42CC-127F-D7FA-DBC3-79E4746CAF72}"/>
              </a:ext>
            </a:extLst>
          </p:cNvPr>
          <p:cNvSpPr txBox="1"/>
          <p:nvPr/>
        </p:nvSpPr>
        <p:spPr>
          <a:xfrm>
            <a:off x="1097280" y="3593591"/>
            <a:ext cx="310896" cy="1097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255B8C"/>
                </a:solidFill>
                <a:latin typeface="Aptos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27C4A6-DA03-C29D-5DFD-4548E5114431}"/>
              </a:ext>
            </a:extLst>
          </p:cNvPr>
          <p:cNvSpPr txBox="1"/>
          <p:nvPr/>
        </p:nvSpPr>
        <p:spPr>
          <a:xfrm>
            <a:off x="1600200" y="3538727"/>
            <a:ext cx="1071319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41C26"/>
                </a:solidFill>
                <a:latin typeface="Aptos"/>
              </a:rPr>
              <a:t>Integration</a:t>
            </a:r>
            <a:endParaRPr sz="1150" b="1" dirty="0">
              <a:solidFill>
                <a:srgbClr val="141C26"/>
              </a:solidFill>
              <a:latin typeface="Apto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EFA89A-3906-1397-882F-ECD3FEF0D773}"/>
              </a:ext>
            </a:extLst>
          </p:cNvPr>
          <p:cNvSpPr txBox="1"/>
          <p:nvPr/>
        </p:nvSpPr>
        <p:spPr>
          <a:xfrm>
            <a:off x="3962880" y="3553393"/>
            <a:ext cx="2064604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 dirty="0">
                <a:latin typeface="Aptos"/>
              </a:rPr>
              <a:t>State published / received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101532-F7D3-E0F9-8DF0-F11981DCFB48}"/>
              </a:ext>
            </a:extLst>
          </p:cNvPr>
          <p:cNvSpPr txBox="1"/>
          <p:nvPr/>
        </p:nvSpPr>
        <p:spPr>
          <a:xfrm>
            <a:off x="10401099" y="3538727"/>
            <a:ext cx="48026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400" b="1" dirty="0">
                <a:solidFill>
                  <a:srgbClr val="2C7A58"/>
                </a:solidFill>
                <a:latin typeface="Aptos"/>
              </a:rPr>
              <a:t>PASS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4DF6283-FB35-B51B-D2AC-AB4518F57310}"/>
              </a:ext>
            </a:extLst>
          </p:cNvPr>
          <p:cNvSpPr/>
          <p:nvPr/>
        </p:nvSpPr>
        <p:spPr>
          <a:xfrm>
            <a:off x="868680" y="4123944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C486770-EA27-89C0-D2AE-C86E30BC8C53}"/>
              </a:ext>
            </a:extLst>
          </p:cNvPr>
          <p:cNvSpPr/>
          <p:nvPr/>
        </p:nvSpPr>
        <p:spPr>
          <a:xfrm>
            <a:off x="1097280" y="4251959"/>
            <a:ext cx="310896" cy="310896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5AD657-FA86-6135-809D-5A0923B441A5}"/>
              </a:ext>
            </a:extLst>
          </p:cNvPr>
          <p:cNvSpPr txBox="1"/>
          <p:nvPr/>
        </p:nvSpPr>
        <p:spPr>
          <a:xfrm>
            <a:off x="1097280" y="4343400"/>
            <a:ext cx="310896" cy="1097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255B8C"/>
                </a:solidFill>
                <a:latin typeface="Aptos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DFE595-FD11-8DF6-1295-30713047132A}"/>
              </a:ext>
            </a:extLst>
          </p:cNvPr>
          <p:cNvSpPr txBox="1"/>
          <p:nvPr/>
        </p:nvSpPr>
        <p:spPr>
          <a:xfrm>
            <a:off x="1600200" y="4288536"/>
            <a:ext cx="749244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41C26"/>
                </a:solidFill>
                <a:latin typeface="Aptos"/>
              </a:rPr>
              <a:t>Aircraft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CAF3EC-2849-D786-283C-D86441B7E295}"/>
              </a:ext>
            </a:extLst>
          </p:cNvPr>
          <p:cNvSpPr txBox="1"/>
          <p:nvPr/>
        </p:nvSpPr>
        <p:spPr>
          <a:xfrm>
            <a:off x="3962880" y="4288536"/>
            <a:ext cx="217848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 dirty="0">
                <a:latin typeface="Aptos"/>
              </a:rPr>
              <a:t>State updates continuously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6583A-64C8-87CC-1294-1149BEBE1C7A}"/>
              </a:ext>
            </a:extLst>
          </p:cNvPr>
          <p:cNvSpPr txBox="1"/>
          <p:nvPr/>
        </p:nvSpPr>
        <p:spPr>
          <a:xfrm>
            <a:off x="10401100" y="4288536"/>
            <a:ext cx="480260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400" b="1" dirty="0">
                <a:solidFill>
                  <a:srgbClr val="2C7A58"/>
                </a:solidFill>
                <a:latin typeface="Aptos"/>
              </a:rPr>
              <a:t>PASS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7CB63EE-F7A6-53FE-F815-4BF36AE3F0E3}"/>
              </a:ext>
            </a:extLst>
          </p:cNvPr>
          <p:cNvSpPr/>
          <p:nvPr/>
        </p:nvSpPr>
        <p:spPr>
          <a:xfrm>
            <a:off x="868680" y="4873752"/>
            <a:ext cx="10378440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8601A71-304C-CE72-DDC8-B1F8F0E6D0CF}"/>
              </a:ext>
            </a:extLst>
          </p:cNvPr>
          <p:cNvSpPr/>
          <p:nvPr/>
        </p:nvSpPr>
        <p:spPr>
          <a:xfrm>
            <a:off x="1097280" y="5001768"/>
            <a:ext cx="310896" cy="310896"/>
          </a:xfrm>
          <a:prstGeom prst="ellipse">
            <a:avLst/>
          </a:prstGeom>
          <a:solidFill>
            <a:srgbClr val="E8EFF5"/>
          </a:solidFill>
          <a:ln>
            <a:solidFill>
              <a:srgbClr val="E8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024DE-624F-5AD4-B317-E06FF670571D}"/>
              </a:ext>
            </a:extLst>
          </p:cNvPr>
          <p:cNvSpPr txBox="1"/>
          <p:nvPr/>
        </p:nvSpPr>
        <p:spPr>
          <a:xfrm>
            <a:off x="1097280" y="5093208"/>
            <a:ext cx="310896" cy="10972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50" b="1">
                <a:solidFill>
                  <a:srgbClr val="255B8C"/>
                </a:solidFill>
                <a:latin typeface="Aptos"/>
              </a:rPr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3261CB-5314-95A6-CFB7-D82749174250}"/>
              </a:ext>
            </a:extLst>
          </p:cNvPr>
          <p:cNvSpPr txBox="1"/>
          <p:nvPr/>
        </p:nvSpPr>
        <p:spPr>
          <a:xfrm>
            <a:off x="1600200" y="5038344"/>
            <a:ext cx="1370760" cy="301621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1" dirty="0">
                <a:solidFill>
                  <a:srgbClr val="141C26"/>
                </a:solidFill>
                <a:latin typeface="Aptos"/>
              </a:rPr>
              <a:t>SAM guidance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75B5577-837A-0CEC-D9B0-5A08A0CD5B4C}"/>
              </a:ext>
            </a:extLst>
          </p:cNvPr>
          <p:cNvSpPr txBox="1"/>
          <p:nvPr/>
        </p:nvSpPr>
        <p:spPr>
          <a:xfrm>
            <a:off x="3962880" y="5023533"/>
            <a:ext cx="1592552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0" dirty="0">
                <a:latin typeface="Aptos"/>
              </a:rPr>
              <a:t>Missile tracks target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B0ADC4-F9C6-7022-1578-FB4207EA4EC4}"/>
              </a:ext>
            </a:extLst>
          </p:cNvPr>
          <p:cNvSpPr txBox="1"/>
          <p:nvPr/>
        </p:nvSpPr>
        <p:spPr>
          <a:xfrm>
            <a:off x="10401099" y="5038344"/>
            <a:ext cx="480261" cy="270843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400" b="1" dirty="0">
                <a:solidFill>
                  <a:srgbClr val="2C7A58"/>
                </a:solidFill>
                <a:latin typeface="Aptos"/>
              </a:rPr>
              <a:t>PASS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091C01-EEB6-3B61-9BD2-B02C8BD761B5}"/>
              </a:ext>
            </a:extLst>
          </p:cNvPr>
          <p:cNvSpPr txBox="1"/>
          <p:nvPr/>
        </p:nvSpPr>
        <p:spPr>
          <a:xfrm>
            <a:off x="868680" y="5833872"/>
            <a:ext cx="128016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255B8C"/>
                </a:solidFill>
                <a:latin typeface="Aptos"/>
              </a:rPr>
              <a:t>Testing principle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6A1542-F360-F1B3-B041-FDE64AA8503C}"/>
              </a:ext>
            </a:extLst>
          </p:cNvPr>
          <p:cNvSpPr txBox="1"/>
          <p:nvPr/>
        </p:nvSpPr>
        <p:spPr>
          <a:xfrm>
            <a:off x="2103120" y="5760720"/>
            <a:ext cx="68580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141C26"/>
                </a:solidFill>
                <a:latin typeface="Aptos"/>
              </a:rPr>
              <a:t>Verify each layer first. Then trust the integrated result.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84E0E4-0B3B-B2DA-DAEA-BBF621953F80}"/>
              </a:ext>
            </a:extLst>
          </p:cNvPr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552F22-D61E-0B8C-8AAE-AC4629BC988D}"/>
              </a:ext>
            </a:extLst>
          </p:cNvPr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186C5B-7B0C-3477-3A8C-36CED0C144FD}"/>
              </a:ext>
            </a:extLst>
          </p:cNvPr>
          <p:cNvSpPr txBox="1"/>
          <p:nvPr/>
        </p:nvSpPr>
        <p:spPr>
          <a:xfrm>
            <a:off x="612213" y="6508024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4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3FC52-D05E-00A5-7F3E-CA14934E18D2}"/>
              </a:ext>
            </a:extLst>
          </p:cNvPr>
          <p:cNvSpPr txBox="1"/>
          <p:nvPr/>
        </p:nvSpPr>
        <p:spPr>
          <a:xfrm>
            <a:off x="1023693" y="650138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05A806-287D-F7C9-8648-0BB3C8A83C0D}"/>
              </a:ext>
            </a:extLst>
          </p:cNvPr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3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VALIDATION</a:t>
            </a:r>
            <a:endParaRPr sz="1000" b="1" dirty="0">
              <a:solidFill>
                <a:srgbClr val="15859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617719642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-182880"/>
            <a:ext cx="12191695" cy="721175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4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The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omplete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E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xecution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F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This is the slide to narrate while showing your live demo / recording.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069796"/>
            <a:ext cx="777240" cy="777240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955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Aircraft
moves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44168" y="2462988"/>
            <a:ext cx="923544" cy="0"/>
          </a:xfrm>
          <a:prstGeom prst="line">
            <a:avLst/>
          </a:prstGeom>
          <a:ln w="2159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2441448" y="2069796"/>
            <a:ext cx="777240" cy="777240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41448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0483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State
updates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82696" y="2462988"/>
            <a:ext cx="923544" cy="0"/>
          </a:xfrm>
          <a:prstGeom prst="line">
            <a:avLst/>
          </a:prstGeom>
          <a:ln w="2159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379976" y="2069796"/>
            <a:ext cx="777240" cy="777240"/>
          </a:xfrm>
          <a:prstGeom prst="ellipse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9976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9011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632"/>
                </a:solidFill>
                <a:latin typeface="Aptos"/>
              </a:rPr>
              <a:t>Zenoh
publishes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21224" y="2462988"/>
            <a:ext cx="923544" cy="0"/>
          </a:xfrm>
          <a:prstGeom prst="line">
            <a:avLst/>
          </a:prstGeom>
          <a:ln w="2159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318504" y="2069796"/>
            <a:ext cx="777240" cy="777240"/>
          </a:xfrm>
          <a:prstGeom prst="ellipse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7539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632"/>
                </a:solidFill>
                <a:latin typeface="Aptos"/>
              </a:rPr>
              <a:t>Subscriber
receives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59752" y="2462988"/>
            <a:ext cx="923544" cy="0"/>
          </a:xfrm>
          <a:prstGeom prst="line">
            <a:avLst/>
          </a:prstGeom>
          <a:ln w="2159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257032" y="2069796"/>
            <a:ext cx="777240" cy="777240"/>
          </a:xfrm>
          <a:prstGeom prst="ellipse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57032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067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632"/>
                </a:solidFill>
                <a:latin typeface="Aptos"/>
              </a:rPr>
              <a:t>SAM
tracks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98280" y="2462988"/>
            <a:ext cx="923544" cy="0"/>
          </a:xfrm>
          <a:prstGeom prst="line">
            <a:avLst/>
          </a:prstGeom>
          <a:ln w="21590">
            <a:solidFill>
              <a:srgbClr val="DC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195560" y="2069796"/>
            <a:ext cx="777240" cy="777240"/>
          </a:xfrm>
          <a:prstGeom prst="ellipse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95560" y="2069796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4595" y="3057966"/>
            <a:ext cx="133633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C2632"/>
                </a:solidFill>
                <a:latin typeface="Aptos"/>
              </a:rPr>
              <a:t>Trajectory
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770" y="3994693"/>
            <a:ext cx="2715768" cy="132343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C1828"/>
                </a:solidFill>
                <a:latin typeface="Aptos"/>
              </a:rPr>
              <a:t>P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osition</a:t>
            </a:r>
            <a:r>
              <a:rPr lang="en-US" sz="2000" b="1" dirty="0">
                <a:solidFill>
                  <a:srgbClr val="0C1828"/>
                </a:solidFill>
                <a:latin typeface="Aptos"/>
              </a:rPr>
              <a:t> 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:</a:t>
            </a:r>
            <a:r>
              <a:rPr lang="en-US" sz="2000" b="1" dirty="0">
                <a:solidFill>
                  <a:srgbClr val="0C1828"/>
                </a:solidFill>
                <a:latin typeface="Aptos"/>
              </a:rPr>
              <a:t> 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[</a:t>
            </a:r>
            <a:r>
              <a:rPr sz="2000" b="1" dirty="0" err="1">
                <a:solidFill>
                  <a:srgbClr val="0C1828"/>
                </a:solidFill>
                <a:latin typeface="Aptos"/>
              </a:rPr>
              <a:t>x,y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]</a:t>
            </a:r>
            <a:endParaRPr lang="en-US" sz="2000" b="1" dirty="0">
              <a:solidFill>
                <a:srgbClr val="0C1828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C1828"/>
                </a:solidFill>
                <a:latin typeface="Aptos"/>
              </a:rPr>
              <a:t>Velocity : 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C1828"/>
                </a:solidFill>
                <a:latin typeface="Aptos"/>
              </a:rPr>
              <a:t>Altitude : 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C1828"/>
                </a:solidFill>
                <a:latin typeface="Aptos"/>
              </a:rPr>
              <a:t>H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eading</a:t>
            </a:r>
            <a:r>
              <a:rPr lang="en-US" sz="2000" b="1" dirty="0">
                <a:solidFill>
                  <a:srgbClr val="0C1828"/>
                </a:solidFill>
                <a:latin typeface="Aptos"/>
              </a:rPr>
              <a:t> </a:t>
            </a:r>
            <a:r>
              <a:rPr sz="2000" b="1" dirty="0">
                <a:solidFill>
                  <a:srgbClr val="0C1828"/>
                </a:solidFill>
                <a:latin typeface="Aptos"/>
              </a:rPr>
              <a:t>:</a:t>
            </a:r>
            <a:r>
              <a:rPr lang="en-US" sz="2000" b="1" dirty="0">
                <a:solidFill>
                  <a:srgbClr val="0C1828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0C1828"/>
                </a:solidFill>
                <a:latin typeface="Aptos"/>
              </a:rPr>
              <a:t>ψ</a:t>
            </a:r>
            <a:endParaRPr sz="2000" b="1" dirty="0">
              <a:solidFill>
                <a:srgbClr val="0C1828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39059" y="4060334"/>
            <a:ext cx="2835946" cy="11387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1C2632"/>
                </a:solidFill>
                <a:latin typeface="Aptos"/>
              </a:rPr>
              <a:t>One changing aircraft state → one continuous information flow → one observable engagement.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70" y="6521958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1" dirty="0">
                <a:solidFill>
                  <a:srgbClr val="788491"/>
                </a:solidFill>
                <a:latin typeface="Aptos"/>
              </a:rPr>
              <a:t>15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" y="652195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88491"/>
                </a:solidFill>
                <a:latin typeface="Aptos"/>
              </a:rPr>
              <a:t>OpenEaagles × Zenoh-C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F94961-43AE-CCAC-E2FA-E65C586885AD}"/>
              </a:ext>
            </a:extLst>
          </p:cNvPr>
          <p:cNvSpPr/>
          <p:nvPr/>
        </p:nvSpPr>
        <p:spPr>
          <a:xfrm>
            <a:off x="384274" y="5735725"/>
            <a:ext cx="954588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DEMO RECORDING - </a:t>
            </a:r>
            <a:r>
              <a:rPr lang="en-GB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3"/>
              </a:rPr>
              <a:t>https://drive.google.com/file/d/1U5I7jNPDC-3QvcGuHitnxE25Rw_zP4Xe/view?usp=sharing</a:t>
            </a:r>
            <a:endParaRPr lang="en-GB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5 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What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W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as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S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uccessfully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D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result is a working integration, not just separate prototypes.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828800"/>
            <a:ext cx="50292" cy="987552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47274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323248"/>
            <a:ext cx="46908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 err="1">
                <a:latin typeface="Aptos"/>
              </a:rPr>
              <a:t>OpenEaagles</a:t>
            </a:r>
            <a:r>
              <a:rPr sz="1600" b="0" dirty="0">
                <a:latin typeface="Aptos"/>
              </a:rPr>
              <a:t> + </a:t>
            </a:r>
            <a:r>
              <a:rPr sz="1600" b="0" dirty="0" err="1">
                <a:latin typeface="Aptos"/>
              </a:rPr>
              <a:t>Zenoh</a:t>
            </a:r>
            <a:r>
              <a:rPr sz="1600" b="0" dirty="0">
                <a:latin typeface="Aptos"/>
              </a:rPr>
              <a:t>-C compiled and configured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0292" cy="987552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993392"/>
            <a:ext cx="47274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5090" y="2337370"/>
            <a:ext cx="46908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Real-time aircraft state transmitted and received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6324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063240"/>
            <a:ext cx="50292" cy="987552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9160" y="3162038"/>
            <a:ext cx="47274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557016"/>
            <a:ext cx="46908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Aircraft state updated continuously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50292" cy="987552"/>
          </a:xfrm>
          <a:prstGeom prst="rect">
            <a:avLst/>
          </a:prstGeom>
          <a:solidFill>
            <a:srgbClr val="67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163161"/>
            <a:ext cx="47274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1C2632"/>
                </a:solidFill>
                <a:latin typeface="Aptos"/>
              </a:rPr>
              <a:t>PN </a:t>
            </a:r>
            <a:r>
              <a:rPr b="1" dirty="0">
                <a:solidFill>
                  <a:srgbClr val="1C2632"/>
                </a:solidFill>
                <a:latin typeface="Aptos"/>
              </a:rPr>
              <a:t>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47089"/>
            <a:ext cx="469087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SAM tracked the moving target using PN guidance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297680"/>
            <a:ext cx="50749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297680"/>
            <a:ext cx="50292" cy="987552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462272"/>
            <a:ext cx="47274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C2632"/>
                </a:solidFill>
                <a:latin typeface="Aptos"/>
              </a:rPr>
              <a:t>Stability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7" y="4864608"/>
            <a:ext cx="4952723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Integrated </a:t>
            </a:r>
            <a:r>
              <a:rPr lang="en-IN" sz="1600" b="0" dirty="0">
                <a:latin typeface="Aptos"/>
              </a:rPr>
              <a:t>pipeline</a:t>
            </a:r>
            <a:r>
              <a:rPr sz="1600" b="0" dirty="0">
                <a:latin typeface="Aptos"/>
              </a:rPr>
              <a:t> operated reliably during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83" y="6510528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6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651052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2943343-4B15-3115-A558-7CE254E9E5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FCB075-B90F-362C-2BF6-D39361D0C947}"/>
              </a:ext>
            </a:extLst>
          </p:cNvPr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latin typeface="Aptos"/>
              </a:rPr>
              <a:t>What changed in my technical skill set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212EAB-9F0F-A134-3299-797AA4755EE1}"/>
              </a:ext>
            </a:extLst>
          </p:cNvPr>
          <p:cNvSpPr txBox="1"/>
          <p:nvPr/>
        </p:nvSpPr>
        <p:spPr>
          <a:xfrm>
            <a:off x="628184" y="1278153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strongest outcome was learning to work across system boundaries.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8373BA-D1DF-8026-7B4C-83DC188348C3}"/>
              </a:ext>
            </a:extLst>
          </p:cNvPr>
          <p:cNvSpPr txBox="1"/>
          <p:nvPr/>
        </p:nvSpPr>
        <p:spPr>
          <a:xfrm>
            <a:off x="6096000" y="5069069"/>
            <a:ext cx="4709160" cy="10215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/>
            <a:r>
              <a:rPr lang="en-US" b="1" dirty="0">
                <a:latin typeface="Aptos"/>
              </a:rPr>
              <a:t>C++ Structure </a:t>
            </a:r>
            <a:br>
              <a:rPr lang="en-US" b="1" dirty="0">
                <a:latin typeface="Aptos"/>
              </a:rPr>
            </a:br>
            <a:r>
              <a:rPr b="0" dirty="0">
                <a:latin typeface="Aptos"/>
              </a:rPr>
              <a:t>Understand and extend a legacy simulation codebase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674FBC-2111-1BFC-67EF-EF12FB2B5FD0}"/>
              </a:ext>
            </a:extLst>
          </p:cNvPr>
          <p:cNvSpPr txBox="1"/>
          <p:nvPr/>
        </p:nvSpPr>
        <p:spPr>
          <a:xfrm>
            <a:off x="6096000" y="1805724"/>
            <a:ext cx="4709160" cy="71508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r>
              <a:rPr lang="en-IN" b="1" dirty="0">
                <a:latin typeface="Aptos"/>
              </a:rPr>
              <a:t>Real-time communication</a:t>
            </a:r>
          </a:p>
          <a:p>
            <a:pPr algn="l"/>
            <a:r>
              <a:rPr b="0" dirty="0">
                <a:latin typeface="Aptos"/>
              </a:rPr>
              <a:t>Publish–subscribe, sessions, key expressions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EEBDB4-A66F-1C6E-2F6F-E96D23BE6DD6}"/>
              </a:ext>
            </a:extLst>
          </p:cNvPr>
          <p:cNvSpPr txBox="1"/>
          <p:nvPr/>
        </p:nvSpPr>
        <p:spPr>
          <a:xfrm>
            <a:off x="570411" y="3118636"/>
            <a:ext cx="4709160" cy="1328023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r>
              <a:rPr lang="en-IN" b="1" dirty="0">
                <a:latin typeface="Aptos"/>
              </a:rPr>
              <a:t>Simulation </a:t>
            </a:r>
          </a:p>
          <a:p>
            <a:r>
              <a:rPr b="0" dirty="0">
                <a:latin typeface="Aptos"/>
              </a:rPr>
              <a:t>Aircraft state, scenario configuration, </a:t>
            </a:r>
            <a:r>
              <a:rPr lang="en-IN" dirty="0"/>
              <a:t>Entity-based updates, deterministic ticks, state management.</a:t>
            </a:r>
            <a:endParaRPr b="0" dirty="0"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A46822-EC0A-8677-B750-AF9ECE168D4E}"/>
              </a:ext>
            </a:extLst>
          </p:cNvPr>
          <p:cNvSpPr txBox="1"/>
          <p:nvPr/>
        </p:nvSpPr>
        <p:spPr>
          <a:xfrm>
            <a:off x="6096000" y="4069271"/>
            <a:ext cx="4709160" cy="715089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r>
              <a:rPr lang="en-IN" b="1" dirty="0">
                <a:latin typeface="Aptos"/>
              </a:rPr>
              <a:t>Debugging </a:t>
            </a:r>
          </a:p>
          <a:p>
            <a:r>
              <a:rPr b="0" dirty="0">
                <a:latin typeface="Aptos"/>
              </a:rPr>
              <a:t>Compile → link → runtime → thread safety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9BF967-7C8C-AB71-1187-608D911B5D4E}"/>
              </a:ext>
            </a:extLst>
          </p:cNvPr>
          <p:cNvSpPr txBox="1"/>
          <p:nvPr/>
        </p:nvSpPr>
        <p:spPr>
          <a:xfrm>
            <a:off x="594360" y="4728056"/>
            <a:ext cx="5040680" cy="10215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1" i="0" dirty="0">
                <a:effectLst/>
                <a:latin typeface="+mn-lt"/>
              </a:rPr>
              <a:t>Communication</a:t>
            </a:r>
            <a:endParaRPr lang="en-IN" dirty="0"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b="0" i="0" dirty="0" err="1">
                <a:effectLst/>
                <a:latin typeface="+mn-lt"/>
              </a:rPr>
              <a:t>Zenoh</a:t>
            </a:r>
            <a:r>
              <a:rPr lang="en-IN" b="0" i="0" dirty="0">
                <a:effectLst/>
                <a:latin typeface="+mn-lt"/>
              </a:rPr>
              <a:t>-C for low-latency telemetry and decoupled producers/consumers.</a:t>
            </a:r>
            <a:endParaRPr lang="en-IN" dirty="0">
              <a:effectLst/>
              <a:latin typeface="YAGzXW3gftg_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4039D5C-6B33-A60F-A46E-07F856147133}"/>
              </a:ext>
            </a:extLst>
          </p:cNvPr>
          <p:cNvSpPr txBox="1"/>
          <p:nvPr/>
        </p:nvSpPr>
        <p:spPr>
          <a:xfrm>
            <a:off x="6096000" y="2794789"/>
            <a:ext cx="5686500" cy="10215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1" i="0" dirty="0">
                <a:effectLst/>
                <a:latin typeface="+mn-lt"/>
              </a:rPr>
              <a:t>Systems Integration</a:t>
            </a:r>
            <a:endParaRPr lang="en-IN" dirty="0"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b="0" i="0" dirty="0">
                <a:effectLst/>
                <a:latin typeface="+mn-lt"/>
              </a:rPr>
              <a:t>Cross-library builds, adapters, and interface validation are critical.</a:t>
            </a:r>
            <a:endParaRPr lang="en-IN" dirty="0">
              <a:effectLst/>
              <a:latin typeface="YAGzXW3gftg_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90377D-D27C-5736-7A1C-0B02D8EA07C0}"/>
              </a:ext>
            </a:extLst>
          </p:cNvPr>
          <p:cNvSpPr txBox="1"/>
          <p:nvPr/>
        </p:nvSpPr>
        <p:spPr>
          <a:xfrm>
            <a:off x="594360" y="1821936"/>
            <a:ext cx="4133504" cy="1021556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b="1" i="0" dirty="0">
                <a:effectLst/>
                <a:latin typeface="+mn-lt"/>
              </a:rPr>
              <a:t>Guidance &amp; Tracking</a:t>
            </a:r>
            <a:endParaRPr lang="en-IN" dirty="0"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IN" b="0" i="0" dirty="0">
                <a:effectLst/>
                <a:latin typeface="+mn-lt"/>
              </a:rPr>
              <a:t>Radar tracking and PN guidance require continuous, timely state updates.</a:t>
            </a:r>
            <a:endParaRPr lang="en-IN" dirty="0">
              <a:effectLst/>
              <a:latin typeface="YAGzXW3gftg_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4C2FB9-8CC7-A549-7E33-9AD826F2B8CC}"/>
              </a:ext>
            </a:extLst>
          </p:cNvPr>
          <p:cNvSpPr txBox="1"/>
          <p:nvPr/>
        </p:nvSpPr>
        <p:spPr>
          <a:xfrm>
            <a:off x="746760" y="4998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6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Learning</a:t>
            </a:r>
            <a:endParaRPr sz="1000" b="1" dirty="0">
              <a:solidFill>
                <a:srgbClr val="158591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37BB83-DD72-45B5-ED55-DCA898A0E549}"/>
              </a:ext>
            </a:extLst>
          </p:cNvPr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55CDD0-8B06-4A20-7D72-FEAB0A21113D}"/>
              </a:ext>
            </a:extLst>
          </p:cNvPr>
          <p:cNvSpPr txBox="1"/>
          <p:nvPr/>
        </p:nvSpPr>
        <p:spPr>
          <a:xfrm>
            <a:off x="613756" y="651988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17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881C34B-0E50-60E1-DEE8-958266ABBC14}"/>
              </a:ext>
            </a:extLst>
          </p:cNvPr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1705DE-7BD5-C5FE-798A-CE80996767A1}"/>
              </a:ext>
            </a:extLst>
          </p:cNvPr>
          <p:cNvSpPr txBox="1"/>
          <p:nvPr/>
        </p:nvSpPr>
        <p:spPr>
          <a:xfrm>
            <a:off x="1040685" y="65198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</p:spTree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BD0B2B-90CD-FD7E-25FE-48A3F8C9C33D}"/>
              </a:ext>
            </a:extLst>
          </p:cNvPr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7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CAREER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1B09E-4DD0-A014-C212-2AE86C514BCE}"/>
              </a:ext>
            </a:extLst>
          </p:cNvPr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dirty="0">
                <a:solidFill>
                  <a:srgbClr val="1C2632"/>
                </a:solidFill>
                <a:latin typeface="Aptos"/>
              </a:rPr>
              <a:t>Why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his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I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nternship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M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atters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F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or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M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y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areer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DD689-D240-5699-69E2-B29E72FC2F38}"/>
              </a:ext>
            </a:extLst>
          </p:cNvPr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It moved my profile from algorithm implementation toward systems engineering.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DB873-D045-9A2E-425F-43C214047A5C}"/>
              </a:ext>
            </a:extLst>
          </p:cNvPr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 dirty="0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4D859F0-1791-2F26-7148-8CC74C4BE63D}"/>
              </a:ext>
            </a:extLst>
          </p:cNvPr>
          <p:cNvSpPr/>
          <p:nvPr/>
        </p:nvSpPr>
        <p:spPr>
          <a:xfrm>
            <a:off x="716141" y="2264459"/>
            <a:ext cx="347472" cy="347472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95299B-2B61-1FEC-3914-726F835F483B}"/>
              </a:ext>
            </a:extLst>
          </p:cNvPr>
          <p:cNvSpPr txBox="1"/>
          <p:nvPr/>
        </p:nvSpPr>
        <p:spPr>
          <a:xfrm>
            <a:off x="716141" y="2264459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8A56D-6977-536B-C2A2-3F3A153F8BF9}"/>
              </a:ext>
            </a:extLst>
          </p:cNvPr>
          <p:cNvSpPr txBox="1"/>
          <p:nvPr/>
        </p:nvSpPr>
        <p:spPr>
          <a:xfrm>
            <a:off x="1280160" y="2282551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Build and integrate large C++ codebases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992711-0FC9-00BF-103B-53AA6CDAC3F8}"/>
              </a:ext>
            </a:extLst>
          </p:cNvPr>
          <p:cNvSpPr/>
          <p:nvPr/>
        </p:nvSpPr>
        <p:spPr>
          <a:xfrm>
            <a:off x="716141" y="2922827"/>
            <a:ext cx="347472" cy="347472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BDF310-B085-AFD0-0F18-F5EEB4038FAE}"/>
              </a:ext>
            </a:extLst>
          </p:cNvPr>
          <p:cNvSpPr txBox="1"/>
          <p:nvPr/>
        </p:nvSpPr>
        <p:spPr>
          <a:xfrm>
            <a:off x="716141" y="2922827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95F37B-B332-ADB8-9D97-2ED081161AB9}"/>
              </a:ext>
            </a:extLst>
          </p:cNvPr>
          <p:cNvSpPr txBox="1"/>
          <p:nvPr/>
        </p:nvSpPr>
        <p:spPr>
          <a:xfrm>
            <a:off x="1295400" y="2965488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Work with real-time communication middleware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A1EAB8-7B5B-AAD9-31F6-7473D06122B7}"/>
              </a:ext>
            </a:extLst>
          </p:cNvPr>
          <p:cNvSpPr/>
          <p:nvPr/>
        </p:nvSpPr>
        <p:spPr>
          <a:xfrm>
            <a:off x="716141" y="3581195"/>
            <a:ext cx="347472" cy="347472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CAA845-E71C-FC2C-1103-33CEA130C4D7}"/>
              </a:ext>
            </a:extLst>
          </p:cNvPr>
          <p:cNvSpPr txBox="1"/>
          <p:nvPr/>
        </p:nvSpPr>
        <p:spPr>
          <a:xfrm>
            <a:off x="716141" y="3581195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B9306-678B-7749-73D0-924014DA66D1}"/>
              </a:ext>
            </a:extLst>
          </p:cNvPr>
          <p:cNvSpPr txBox="1"/>
          <p:nvPr/>
        </p:nvSpPr>
        <p:spPr>
          <a:xfrm>
            <a:off x="1280160" y="3594572"/>
            <a:ext cx="4800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Debug across compiler, linker and runtime layers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721443-51FC-78DA-2343-D88C3CFFB265}"/>
              </a:ext>
            </a:extLst>
          </p:cNvPr>
          <p:cNvSpPr/>
          <p:nvPr/>
        </p:nvSpPr>
        <p:spPr>
          <a:xfrm>
            <a:off x="716141" y="4239563"/>
            <a:ext cx="347472" cy="347472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AD4038-4382-5212-4D18-A646B3C20A3A}"/>
              </a:ext>
            </a:extLst>
          </p:cNvPr>
          <p:cNvSpPr txBox="1"/>
          <p:nvPr/>
        </p:nvSpPr>
        <p:spPr>
          <a:xfrm>
            <a:off x="716141" y="4239563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FB173F-B62E-89A5-5385-10B23600B570}"/>
              </a:ext>
            </a:extLst>
          </p:cNvPr>
          <p:cNvSpPr txBox="1"/>
          <p:nvPr/>
        </p:nvSpPr>
        <p:spPr>
          <a:xfrm>
            <a:off x="1295400" y="4139573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Reason </a:t>
            </a:r>
            <a:r>
              <a:rPr lang="en-IN" sz="1600" b="1" dirty="0">
                <a:solidFill>
                  <a:srgbClr val="1C2632"/>
                </a:solidFill>
                <a:latin typeface="Aptos"/>
              </a:rPr>
              <a:t>about</a:t>
            </a:r>
            <a:r>
              <a:rPr sz="1600" b="1" dirty="0">
                <a:solidFill>
                  <a:srgbClr val="1C2632"/>
                </a:solidFill>
                <a:latin typeface="Aptos"/>
              </a:rPr>
              <a:t> simulation state and numerical </a:t>
            </a:r>
            <a:r>
              <a:rPr sz="1600" b="1" dirty="0" err="1">
                <a:solidFill>
                  <a:srgbClr val="1C2632"/>
                </a:solidFill>
                <a:latin typeface="Aptos"/>
              </a:rPr>
              <a:t>behaviour</a:t>
            </a:r>
            <a:endParaRPr sz="1600" b="1" dirty="0">
              <a:solidFill>
                <a:srgbClr val="1C2632"/>
              </a:solidFill>
              <a:latin typeface="Apto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26083B-1FA8-4A0C-E635-6BD4B80E2DA3}"/>
              </a:ext>
            </a:extLst>
          </p:cNvPr>
          <p:cNvSpPr/>
          <p:nvPr/>
        </p:nvSpPr>
        <p:spPr>
          <a:xfrm>
            <a:off x="716141" y="4897931"/>
            <a:ext cx="347472" cy="347472"/>
          </a:xfrm>
          <a:prstGeom prst="ellipse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6FE22-CD03-0CEF-8163-828A4E24CDBD}"/>
              </a:ext>
            </a:extLst>
          </p:cNvPr>
          <p:cNvSpPr txBox="1"/>
          <p:nvPr/>
        </p:nvSpPr>
        <p:spPr>
          <a:xfrm>
            <a:off x="716141" y="4897931"/>
            <a:ext cx="34747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D4142-9D76-8404-41AD-86EB1FC1F2C3}"/>
              </a:ext>
            </a:extLst>
          </p:cNvPr>
          <p:cNvSpPr txBox="1"/>
          <p:nvPr/>
        </p:nvSpPr>
        <p:spPr>
          <a:xfrm>
            <a:off x="1280160" y="4860683"/>
            <a:ext cx="48006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C2632"/>
                </a:solidFill>
                <a:latin typeface="Aptos"/>
              </a:rPr>
              <a:t>Design interfaces between independent components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949D58-4B9F-9A02-165D-5D9A5D22866D}"/>
              </a:ext>
            </a:extLst>
          </p:cNvPr>
          <p:cNvSpPr txBox="1"/>
          <p:nvPr/>
        </p:nvSpPr>
        <p:spPr>
          <a:xfrm>
            <a:off x="6720840" y="1828800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ptos"/>
              </a:rPr>
              <a:t>BEFORE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7EBBC6-D956-AD6A-C6ED-8998F0938301}"/>
              </a:ext>
            </a:extLst>
          </p:cNvPr>
          <p:cNvSpPr txBox="1"/>
          <p:nvPr/>
        </p:nvSpPr>
        <p:spPr>
          <a:xfrm>
            <a:off x="6720840" y="221284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632"/>
                </a:solidFill>
                <a:latin typeface="Aptos"/>
              </a:rPr>
              <a:t>Coding / algorithms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A2D4F997-8ED5-D834-FD4A-FD2530B772F0}"/>
              </a:ext>
            </a:extLst>
          </p:cNvPr>
          <p:cNvCxnSpPr/>
          <p:nvPr/>
        </p:nvCxnSpPr>
        <p:spPr>
          <a:xfrm>
            <a:off x="6812280" y="2907792"/>
            <a:ext cx="3474720" cy="0"/>
          </a:xfrm>
          <a:prstGeom prst="line">
            <a:avLst/>
          </a:prstGeom>
          <a:ln w="31750">
            <a:solidFill>
              <a:srgbClr val="1585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7F4045-6E5E-C8D2-4CAB-872230FD7398}"/>
              </a:ext>
            </a:extLst>
          </p:cNvPr>
          <p:cNvSpPr txBox="1"/>
          <p:nvPr/>
        </p:nvSpPr>
        <p:spPr>
          <a:xfrm>
            <a:off x="6720840" y="3310128"/>
            <a:ext cx="1005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latin typeface="Aptos"/>
              </a:rPr>
              <a:t>AFTER</a:t>
            </a:r>
            <a:endParaRPr sz="900" b="1" dirty="0">
              <a:latin typeface="Apto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B0BDDC-5153-145F-22C1-6F9AF0968AE2}"/>
              </a:ext>
            </a:extLst>
          </p:cNvPr>
          <p:cNvSpPr txBox="1"/>
          <p:nvPr/>
        </p:nvSpPr>
        <p:spPr>
          <a:xfrm>
            <a:off x="6720840" y="3694176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C2632"/>
                </a:solidFill>
                <a:latin typeface="Aptos"/>
              </a:rPr>
              <a:t>Systems + integration + validation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054FFF-5E33-1552-8630-AF02E61D6438}"/>
              </a:ext>
            </a:extLst>
          </p:cNvPr>
          <p:cNvSpPr txBox="1"/>
          <p:nvPr/>
        </p:nvSpPr>
        <p:spPr>
          <a:xfrm>
            <a:off x="6642908" y="4375058"/>
            <a:ext cx="4636424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 algn="l"/>
            <a:r>
              <a:rPr b="0" dirty="0">
                <a:latin typeface="Aptos"/>
              </a:rPr>
              <a:t>This experience directly strengthens my interest in software engineering, simulation, systems and research-oriented development.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98E91E-41B6-70CF-DD7D-768BAEA5D9D1}"/>
              </a:ext>
            </a:extLst>
          </p:cNvPr>
          <p:cNvSpPr txBox="1"/>
          <p:nvPr/>
        </p:nvSpPr>
        <p:spPr>
          <a:xfrm>
            <a:off x="612648" y="6531644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 dirty="0">
                <a:solidFill>
                  <a:srgbClr val="788491"/>
                </a:solidFill>
                <a:latin typeface="Aptos"/>
              </a:rPr>
              <a:t>1</a:t>
            </a:r>
            <a:r>
              <a:rPr lang="en-US" sz="800" b="1" dirty="0">
                <a:solidFill>
                  <a:srgbClr val="788491"/>
                </a:solidFill>
                <a:latin typeface="Aptos"/>
              </a:rPr>
              <a:t>8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EA394B-62CC-8024-5C81-C3B5A03B545A}"/>
              </a:ext>
            </a:extLst>
          </p:cNvPr>
          <p:cNvSpPr txBox="1"/>
          <p:nvPr/>
        </p:nvSpPr>
        <p:spPr>
          <a:xfrm>
            <a:off x="1005840" y="650259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2E5587-D7BE-8993-FB80-557E4FAF5E9B}"/>
              </a:ext>
            </a:extLst>
          </p:cNvPr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17824558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8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1C2632"/>
                </a:solidFill>
                <a:latin typeface="Aptos"/>
              </a:rPr>
              <a:t>Where I would take the system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current implementation is a foundation for deeper experimentation.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" y="1959576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01  Multiple aircraft / missiles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04688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58591"/>
                </a:solidFill>
                <a:latin typeface="Aptos"/>
              </a:rPr>
              <a:t>NEXT RESEARCH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6352" y="5413248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1C2632"/>
                </a:solidFill>
                <a:latin typeface="Aptos"/>
              </a:rPr>
              <a:t>How does the architecture behave as realism, scale and distributed execution increase?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21958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1" dirty="0">
                <a:solidFill>
                  <a:srgbClr val="788491"/>
                </a:solidFill>
                <a:latin typeface="Aptos"/>
              </a:rPr>
              <a:t>19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5840" y="6536234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0B30518-FC72-0818-8317-34B3F2B73575}"/>
              </a:ext>
            </a:extLst>
          </p:cNvPr>
          <p:cNvSpPr/>
          <p:nvPr/>
        </p:nvSpPr>
        <p:spPr>
          <a:xfrm>
            <a:off x="713232" y="2754221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3A5A830-9237-EA32-9A0F-25BE1EDC1C33}"/>
              </a:ext>
            </a:extLst>
          </p:cNvPr>
          <p:cNvSpPr/>
          <p:nvPr/>
        </p:nvSpPr>
        <p:spPr>
          <a:xfrm>
            <a:off x="6158068" y="1823680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5D419CC-82DA-BF64-8B91-431BE76CA731}"/>
              </a:ext>
            </a:extLst>
          </p:cNvPr>
          <p:cNvSpPr/>
          <p:nvPr/>
        </p:nvSpPr>
        <p:spPr>
          <a:xfrm>
            <a:off x="6158068" y="2771328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278ABC2-6E78-078B-D800-D48EE738E119}"/>
              </a:ext>
            </a:extLst>
          </p:cNvPr>
          <p:cNvSpPr/>
          <p:nvPr/>
        </p:nvSpPr>
        <p:spPr>
          <a:xfrm>
            <a:off x="713232" y="3689604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581A59C-CE12-CD8D-E513-91517924FF9F}"/>
              </a:ext>
            </a:extLst>
          </p:cNvPr>
          <p:cNvSpPr/>
          <p:nvPr/>
        </p:nvSpPr>
        <p:spPr>
          <a:xfrm>
            <a:off x="713232" y="4569305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D665A93-4DB8-3139-933C-00584F67011D}"/>
              </a:ext>
            </a:extLst>
          </p:cNvPr>
          <p:cNvSpPr/>
          <p:nvPr/>
        </p:nvSpPr>
        <p:spPr>
          <a:xfrm>
            <a:off x="6158068" y="3680460"/>
            <a:ext cx="4731604" cy="571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5847" y="1924532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02  More realistic flight dynamics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0780" y="2851656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04  </a:t>
            </a:r>
            <a:r>
              <a:rPr lang="en-IN" sz="1600" b="1" dirty="0">
                <a:solidFill>
                  <a:srgbClr val="1C2632"/>
                </a:solidFill>
                <a:latin typeface="Aptos"/>
              </a:rPr>
              <a:t>Real-time</a:t>
            </a:r>
            <a:r>
              <a:rPr sz="1600" b="1" dirty="0">
                <a:solidFill>
                  <a:srgbClr val="1C2632"/>
                </a:solidFill>
                <a:latin typeface="Aptos"/>
              </a:rPr>
              <a:t> visualization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644" y="2909909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03  Advanced guidance algorithms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806677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05  Distributed multi-machine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972" y="4695444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07  Latency / trajectory / engagement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3765945"/>
            <a:ext cx="4983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dirty="0">
                <a:solidFill>
                  <a:srgbClr val="1C2632"/>
                </a:solidFill>
                <a:latin typeface="Aptos"/>
              </a:rPr>
              <a:t>06  Additional sensor models</a:t>
            </a:r>
          </a:p>
        </p:txBody>
      </p:sp>
    </p:spTree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58591"/>
                </a:solidFill>
                <a:latin typeface="Aptos"/>
              </a:rPr>
              <a:t>1</a:t>
            </a:r>
            <a:r>
              <a:rPr lang="en-US" sz="1000" b="1" dirty="0">
                <a:solidFill>
                  <a:srgbClr val="158591"/>
                </a:solidFill>
                <a:latin typeface="Aptos"/>
              </a:rPr>
              <a:t>9</a:t>
            </a:r>
            <a:r>
              <a:rPr sz="1000" b="1" dirty="0">
                <a:solidFill>
                  <a:srgbClr val="158591"/>
                </a:solidFill>
                <a:latin typeface="Aptos"/>
              </a:rPr>
              <a:t> /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881360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900" b="1" dirty="0">
                <a:solidFill>
                  <a:srgbClr val="1C2632"/>
                </a:solidFill>
                <a:latin typeface="Aptos"/>
              </a:rPr>
              <a:t>T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hings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I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W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ould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C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arry </a:t>
            </a:r>
            <a:r>
              <a:rPr lang="en-US" sz="2900" b="1" dirty="0">
                <a:solidFill>
                  <a:srgbClr val="1C2632"/>
                </a:solidFill>
                <a:latin typeface="Aptos"/>
              </a:rPr>
              <a:t>F</a:t>
            </a:r>
            <a:r>
              <a:rPr sz="2900" b="1" dirty="0">
                <a:solidFill>
                  <a:srgbClr val="1C2632"/>
                </a:solidFill>
                <a:latin typeface="Aptos"/>
              </a:rPr>
              <a:t>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71600"/>
            <a:ext cx="10515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The internship changed how I approach technical problems.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32520" y="365760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1">
                <a:solidFill>
                  <a:srgbClr val="526070"/>
                </a:solidFill>
                <a:latin typeface="Aptos"/>
              </a:rPr>
              <a:t>ISSA • DRDO  / 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01952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01952"/>
            <a:ext cx="50292" cy="251460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66544"/>
            <a:ext cx="3081528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632"/>
                </a:solidFill>
                <a:latin typeface="Aptos"/>
              </a:rPr>
              <a:t>01  Understand before extending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36021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Study the framework, examples and execution model before changing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901952"/>
            <a:ext cx="50292" cy="2514600"/>
          </a:xfrm>
          <a:prstGeom prst="rect">
            <a:avLst/>
          </a:prstGeom>
          <a:solidFill>
            <a:srgbClr val="D67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2066544"/>
            <a:ext cx="352958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632"/>
                </a:solidFill>
                <a:latin typeface="Aptos"/>
              </a:rPr>
              <a:t>02  Integrate incrementally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002" y="2743753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Build → verify → connect → validate. Isolate failures before adding complexity.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29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83296" y="1901952"/>
            <a:ext cx="50292" cy="2514600"/>
          </a:xfrm>
          <a:prstGeom prst="rect">
            <a:avLst/>
          </a:prstGeom>
          <a:solidFill>
            <a:srgbClr val="318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2066544"/>
            <a:ext cx="351129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1C2632"/>
                </a:solidFill>
                <a:latin typeface="Aptos"/>
              </a:rPr>
              <a:t>03  Engineer the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0466" y="2701266"/>
            <a:ext cx="304495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latin typeface="Aptos"/>
              </a:rPr>
              <a:t>Thread safety, data ownership and interfaces matter as much as the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C2632"/>
                </a:solidFill>
                <a:latin typeface="Aptos"/>
              </a:rPr>
              <a:t>The project taught me not just how to make a program run — but how to make multiple systems work together.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05540"/>
            <a:ext cx="4114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800" b="1" dirty="0">
                <a:solidFill>
                  <a:srgbClr val="788491"/>
                </a:solidFill>
                <a:latin typeface="Aptos"/>
              </a:rPr>
              <a:t>20</a:t>
            </a:r>
            <a:endParaRPr sz="800" b="1" dirty="0">
              <a:solidFill>
                <a:srgbClr val="78849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5840" y="648774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dirty="0" err="1">
                <a:solidFill>
                  <a:srgbClr val="788491"/>
                </a:solidFill>
                <a:latin typeface="Aptos"/>
              </a:rPr>
              <a:t>OpenEaagles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 × </a:t>
            </a:r>
            <a:r>
              <a:rPr sz="800" b="0" dirty="0" err="1">
                <a:solidFill>
                  <a:srgbClr val="788491"/>
                </a:solidFill>
                <a:latin typeface="Aptos"/>
              </a:rPr>
              <a:t>Zenoh</a:t>
            </a:r>
            <a:r>
              <a:rPr sz="800" b="0" dirty="0">
                <a:solidFill>
                  <a:srgbClr val="788491"/>
                </a:solidFill>
                <a:latin typeface="Aptos"/>
              </a:rPr>
              <a:t>-C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" y="6510528"/>
            <a:ext cx="1600200" cy="22860"/>
          </a:xfrm>
          <a:prstGeom prst="rect">
            <a:avLst/>
          </a:prstGeom>
          <a:solidFill>
            <a:srgbClr val="158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12648" y="647395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96A6B3"/>
                </a:solidFill>
                <a:latin typeface="Aptos"/>
              </a:rPr>
              <a:t>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B73DAE-4828-BFE5-5EBA-4F81B2D92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3127" y="-22108"/>
            <a:ext cx="12396353" cy="692349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2098</Words>
  <Application>Microsoft Macintosh PowerPoint</Application>
  <PresentationFormat>Widescreen</PresentationFormat>
  <Paragraphs>380</Paragraphs>
  <Slides>24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Calibri</vt:lpstr>
      <vt:lpstr>YAGzXW3gftg_0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of OpenEaagles and Zenoh-C for Real-Time Aircraft Simulation and SAM Engagement</dc:title>
  <dc:subject>20-slide internship presentation</dc:subject>
  <dc:creator>Akshara Agarwal</dc:creator>
  <cp:keywords>OpenEaagles, Zenoh-C, aircraft simulation, SAM, DRDO, internship</cp:keywords>
  <dc:description>generated using python-pptx</dc:description>
  <cp:lastModifiedBy>NIMIT  AGARWAL</cp:lastModifiedBy>
  <cp:revision>6</cp:revision>
  <dcterms:created xsi:type="dcterms:W3CDTF">2013-01-27T09:14:16Z</dcterms:created>
  <dcterms:modified xsi:type="dcterms:W3CDTF">2026-09-16T07:30:20Z</dcterms:modified>
  <cp:category/>
</cp:coreProperties>
</file>